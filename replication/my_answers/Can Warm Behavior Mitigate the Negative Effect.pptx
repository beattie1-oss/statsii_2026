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4"/>
  </p:notesMasterIdLst>
  <p:sldIdLst>
    <p:sldId id="264" r:id="rId2"/>
    <p:sldId id="256" r:id="rId3"/>
    <p:sldId id="257" r:id="rId4"/>
    <p:sldId id="258" r:id="rId5"/>
    <p:sldId id="259" r:id="rId6"/>
    <p:sldId id="269" r:id="rId7"/>
    <p:sldId id="270" r:id="rId8"/>
    <p:sldId id="266" r:id="rId9"/>
    <p:sldId id="261" r:id="rId10"/>
    <p:sldId id="271" r:id="rId11"/>
    <p:sldId id="263"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D0810E-ADF6-488A-8530-D41D8C9CAD4A}">
          <p14:sldIdLst>
            <p14:sldId id="264"/>
            <p14:sldId id="256"/>
            <p14:sldId id="257"/>
            <p14:sldId id="258"/>
            <p14:sldId id="259"/>
            <p14:sldId id="269"/>
            <p14:sldId id="270"/>
            <p14:sldId id="266"/>
            <p14:sldId id="261"/>
            <p14:sldId id="271"/>
            <p14:sldId id="263"/>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FDF3D9-1024-42EF-BEDA-92938C5A7FA4}" type="doc">
      <dgm:prSet loTypeId="urn:microsoft.com/office/officeart/2005/8/layout/vList2" loCatId="list" qsTypeId="urn:microsoft.com/office/officeart/2005/8/quickstyle/simple1" qsCatId="simple" csTypeId="urn:microsoft.com/office/officeart/2005/8/colors/accent2_2" csCatId="accent2" phldr="1"/>
      <dgm:spPr/>
      <dgm:t>
        <a:bodyPr/>
        <a:lstStyle/>
        <a:p>
          <a:endParaRPr lang="en-GB"/>
        </a:p>
      </dgm:t>
    </dgm:pt>
    <dgm:pt modelId="{A0727C92-95DF-47BF-A434-D4DE49308730}">
      <dgm:prSet/>
      <dgm:spPr>
        <a:solidFill>
          <a:schemeClr val="accent5">
            <a:lumMod val="40000"/>
            <a:lumOff val="60000"/>
          </a:schemeClr>
        </a:solidFill>
      </dgm:spPr>
      <dgm:t>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H1: Citizens have lower trust in government the more unfavourable a decision is to the individual.</a:t>
          </a:r>
        </a:p>
      </dgm:t>
    </dgm:pt>
    <dgm:pt modelId="{A6C1E9F1-283B-4DC5-AF1D-BAAB598D2D1D}" type="parTrans" cxnId="{06479B78-B65E-437B-A58B-FDC2A4879137}">
      <dgm:prSet/>
      <dgm:spPr/>
      <dgm:t>
        <a:bodyPr/>
        <a:lstStyle/>
        <a:p>
          <a:endParaRPr lang="en-GB"/>
        </a:p>
      </dgm:t>
    </dgm:pt>
    <dgm:pt modelId="{B283B681-5A49-4AA1-BE6B-1CFFC4A55235}" type="sibTrans" cxnId="{06479B78-B65E-437B-A58B-FDC2A4879137}">
      <dgm:prSet/>
      <dgm:spPr/>
      <dgm:t>
        <a:bodyPr/>
        <a:lstStyle/>
        <a:p>
          <a:endParaRPr lang="en-GB"/>
        </a:p>
      </dgm:t>
    </dgm:pt>
    <dgm:pt modelId="{9C37F673-3743-47FA-B742-EDFA8C7B48EF}">
      <dgm:prSet/>
      <dgm:spPr>
        <a:solidFill>
          <a:schemeClr val="accent5">
            <a:lumMod val="75000"/>
          </a:schemeClr>
        </a:solidFill>
        <a:ln>
          <a:solidFill>
            <a:schemeClr val="accent5">
              <a:lumMod val="75000"/>
            </a:schemeClr>
          </a:solidFill>
        </a:ln>
      </dgm:spPr>
      <dgm:t>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H2: The effect of decision favourability on citizens’ trust in government depends on whether bureaucrats show warmth in the decision-making process. The negative effect of unfavourable decisions is weaker when bureaucrats show high warmth compared to showing low warmth.</a:t>
          </a:r>
        </a:p>
      </dgm:t>
    </dgm:pt>
    <dgm:pt modelId="{899E4A25-748B-4D1C-925E-ACA26EABA4B8}" type="parTrans" cxnId="{47F4023A-8E76-45CC-B519-F1FB906DA49F}">
      <dgm:prSet/>
      <dgm:spPr/>
      <dgm:t>
        <a:bodyPr/>
        <a:lstStyle/>
        <a:p>
          <a:endParaRPr lang="en-GB"/>
        </a:p>
      </dgm:t>
    </dgm:pt>
    <dgm:pt modelId="{5CE4F064-687B-499D-8206-50CF873505BB}" type="sibTrans" cxnId="{47F4023A-8E76-45CC-B519-F1FB906DA49F}">
      <dgm:prSet/>
      <dgm:spPr/>
      <dgm:t>
        <a:bodyPr/>
        <a:lstStyle/>
        <a:p>
          <a:endParaRPr lang="en-GB"/>
        </a:p>
      </dgm:t>
    </dgm:pt>
    <dgm:pt modelId="{E056A541-086C-4697-BB3B-F6F9422F9A85}" type="pres">
      <dgm:prSet presAssocID="{B5FDF3D9-1024-42EF-BEDA-92938C5A7FA4}" presName="linear" presStyleCnt="0">
        <dgm:presLayoutVars>
          <dgm:animLvl val="lvl"/>
          <dgm:resizeHandles val="exact"/>
        </dgm:presLayoutVars>
      </dgm:prSet>
      <dgm:spPr/>
    </dgm:pt>
    <dgm:pt modelId="{B95B3C59-BB79-4009-B912-BEE76D279524}" type="pres">
      <dgm:prSet presAssocID="{A0727C92-95DF-47BF-A434-D4DE49308730}" presName="parentText" presStyleLbl="node1" presStyleIdx="0" presStyleCnt="2" custScaleY="56102">
        <dgm:presLayoutVars>
          <dgm:chMax val="0"/>
          <dgm:bulletEnabled val="1"/>
        </dgm:presLayoutVars>
      </dgm:prSet>
      <dgm:spPr/>
    </dgm:pt>
    <dgm:pt modelId="{63D01583-CFFE-47CB-AAE1-FAD74F02918E}" type="pres">
      <dgm:prSet presAssocID="{B283B681-5A49-4AA1-BE6B-1CFFC4A55235}" presName="spacer" presStyleCnt="0"/>
      <dgm:spPr/>
    </dgm:pt>
    <dgm:pt modelId="{050818C9-837F-4530-B1C6-C9D697EDE9C4}" type="pres">
      <dgm:prSet presAssocID="{9C37F673-3743-47FA-B742-EDFA8C7B48EF}" presName="parentText" presStyleLbl="node1" presStyleIdx="1" presStyleCnt="2">
        <dgm:presLayoutVars>
          <dgm:chMax val="0"/>
          <dgm:bulletEnabled val="1"/>
        </dgm:presLayoutVars>
      </dgm:prSet>
      <dgm:spPr/>
    </dgm:pt>
  </dgm:ptLst>
  <dgm:cxnLst>
    <dgm:cxn modelId="{33AECD19-C060-4A50-8A97-6D0BD19B3522}" type="presOf" srcId="{B5FDF3D9-1024-42EF-BEDA-92938C5A7FA4}" destId="{E056A541-086C-4697-BB3B-F6F9422F9A85}" srcOrd="0" destOrd="0" presId="urn:microsoft.com/office/officeart/2005/8/layout/vList2"/>
    <dgm:cxn modelId="{1256C327-8B9C-4524-AFF0-D4020506ADF0}" type="presOf" srcId="{9C37F673-3743-47FA-B742-EDFA8C7B48EF}" destId="{050818C9-837F-4530-B1C6-C9D697EDE9C4}" srcOrd="0" destOrd="0" presId="urn:microsoft.com/office/officeart/2005/8/layout/vList2"/>
    <dgm:cxn modelId="{4AD5DE2A-AAF1-49B2-8A81-51DE582E8243}" type="presOf" srcId="{A0727C92-95DF-47BF-A434-D4DE49308730}" destId="{B95B3C59-BB79-4009-B912-BEE76D279524}" srcOrd="0" destOrd="0" presId="urn:microsoft.com/office/officeart/2005/8/layout/vList2"/>
    <dgm:cxn modelId="{47F4023A-8E76-45CC-B519-F1FB906DA49F}" srcId="{B5FDF3D9-1024-42EF-BEDA-92938C5A7FA4}" destId="{9C37F673-3743-47FA-B742-EDFA8C7B48EF}" srcOrd="1" destOrd="0" parTransId="{899E4A25-748B-4D1C-925E-ACA26EABA4B8}" sibTransId="{5CE4F064-687B-499D-8206-50CF873505BB}"/>
    <dgm:cxn modelId="{06479B78-B65E-437B-A58B-FDC2A4879137}" srcId="{B5FDF3D9-1024-42EF-BEDA-92938C5A7FA4}" destId="{A0727C92-95DF-47BF-A434-D4DE49308730}" srcOrd="0" destOrd="0" parTransId="{A6C1E9F1-283B-4DC5-AF1D-BAAB598D2D1D}" sibTransId="{B283B681-5A49-4AA1-BE6B-1CFFC4A55235}"/>
    <dgm:cxn modelId="{BB45C979-A529-4C56-8C80-2C2064633BC2}" type="presParOf" srcId="{E056A541-086C-4697-BB3B-F6F9422F9A85}" destId="{B95B3C59-BB79-4009-B912-BEE76D279524}" srcOrd="0" destOrd="0" presId="urn:microsoft.com/office/officeart/2005/8/layout/vList2"/>
    <dgm:cxn modelId="{C2C1F767-2CE5-46F8-85C7-8D8AE276DB2C}" type="presParOf" srcId="{E056A541-086C-4697-BB3B-F6F9422F9A85}" destId="{63D01583-CFFE-47CB-AAE1-FAD74F02918E}" srcOrd="1" destOrd="0" presId="urn:microsoft.com/office/officeart/2005/8/layout/vList2"/>
    <dgm:cxn modelId="{C7C248A2-3E6E-453B-9135-91479A118BC5}" type="presParOf" srcId="{E056A541-086C-4697-BB3B-F6F9422F9A85}" destId="{050818C9-837F-4530-B1C6-C9D697EDE9C4}"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B3C59-BB79-4009-B912-BEE76D279524}">
      <dsp:nvSpPr>
        <dsp:cNvPr id="0" name=""/>
        <dsp:cNvSpPr/>
      </dsp:nvSpPr>
      <dsp:spPr>
        <a:xfrm>
          <a:off x="0" y="56821"/>
          <a:ext cx="5734664" cy="1604061"/>
        </a:xfrm>
        <a:prstGeom prst="roundRect">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GB" sz="2300" kern="1200" dirty="0">
              <a:latin typeface="CMU Sans Serif" panose="02000603000000000000" pitchFamily="2" charset="0"/>
              <a:ea typeface="CMU Sans Serif" panose="02000603000000000000" pitchFamily="2" charset="0"/>
              <a:cs typeface="CMU Sans Serif" panose="02000603000000000000" pitchFamily="2" charset="0"/>
            </a:rPr>
            <a:t>H1: Citizens have lower trust in government the more unfavourable a decision is to the individual.</a:t>
          </a:r>
        </a:p>
      </dsp:txBody>
      <dsp:txXfrm>
        <a:off x="78304" y="135125"/>
        <a:ext cx="5578056" cy="1447453"/>
      </dsp:txXfrm>
    </dsp:sp>
    <dsp:sp modelId="{050818C9-837F-4530-B1C6-C9D697EDE9C4}">
      <dsp:nvSpPr>
        <dsp:cNvPr id="0" name=""/>
        <dsp:cNvSpPr/>
      </dsp:nvSpPr>
      <dsp:spPr>
        <a:xfrm>
          <a:off x="0" y="1727122"/>
          <a:ext cx="5734664" cy="2859187"/>
        </a:xfrm>
        <a:prstGeom prst="roundRect">
          <a:avLst/>
        </a:prstGeom>
        <a:solidFill>
          <a:schemeClr val="accent5">
            <a:lumMod val="75000"/>
          </a:schemeClr>
        </a:solidFill>
        <a:ln w="12700" cap="flat" cmpd="sng" algn="ctr">
          <a:solidFill>
            <a:schemeClr val="accent5">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GB" sz="2300" kern="1200" dirty="0">
              <a:latin typeface="CMU Sans Serif" panose="02000603000000000000" pitchFamily="2" charset="0"/>
              <a:ea typeface="CMU Sans Serif" panose="02000603000000000000" pitchFamily="2" charset="0"/>
              <a:cs typeface="CMU Sans Serif" panose="02000603000000000000" pitchFamily="2" charset="0"/>
            </a:rPr>
            <a:t>H2: The effect of decision favourability on citizens’ trust in government depends on whether bureaucrats show warmth in the decision-making process. The negative effect of unfavourable decisions is weaker when bureaucrats show high warmth compared to showing low warmth.</a:t>
          </a:r>
        </a:p>
      </dsp:txBody>
      <dsp:txXfrm>
        <a:off x="139574" y="1866696"/>
        <a:ext cx="5455516" cy="258003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421F-398B-4DAA-8CA6-E5168223F3C6}" type="datetimeFigureOut">
              <a:rPr lang="en-GB" smtClean="0"/>
              <a:t>01/04/2026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E1FE7-B59A-46E6-94E2-3F84D8B22038}" type="slidenum">
              <a:rPr lang="en-GB" smtClean="0"/>
              <a:t>‹#›</a:t>
            </a:fld>
            <a:endParaRPr lang="en-GB"/>
          </a:p>
        </p:txBody>
      </p:sp>
    </p:spTree>
    <p:extLst>
      <p:ext uri="{BB962C8B-B14F-4D97-AF65-F5344CB8AC3E}">
        <p14:creationId xmlns:p14="http://schemas.microsoft.com/office/powerpoint/2010/main" val="1201213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
        <p:cNvGrpSpPr/>
        <p:nvPr/>
      </p:nvGrpSpPr>
      <p:grpSpPr>
        <a:xfrm>
          <a:off x="0" y="0"/>
          <a:ext cx="0" cy="0"/>
          <a:chOff x="0" y="0"/>
          <a:chExt cx="0" cy="0"/>
        </a:xfrm>
      </p:grpSpPr>
      <p:sp>
        <p:nvSpPr>
          <p:cNvPr id="29" name="Google Shape;29;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 name="Google Shape;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38774079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39003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831427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7174057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F70DEA-7865-4DF2-B4A9-B9F96E74F439}" type="datetimeFigureOut">
              <a:rPr lang="en-GB" smtClean="0"/>
              <a:t>01/04/2026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225212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F70DEA-7865-4DF2-B4A9-B9F96E74F439}" type="datetimeFigureOut">
              <a:rPr lang="en-GB" smtClean="0"/>
              <a:t>01/04/2026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497969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F70DEA-7865-4DF2-B4A9-B9F96E74F439}" type="datetimeFigureOut">
              <a:rPr lang="en-GB" smtClean="0"/>
              <a:t>01/04/2026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041102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9984373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302368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32730263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730978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DM Serif Text" panose="020F0502020204030204" pitchFamily="2" charset="0"/>
              </a:defRPr>
            </a:lvl1pPr>
          </a:lstStyle>
          <a:p>
            <a:fld id="{E7F70DEA-7865-4DF2-B4A9-B9F96E74F439}" type="datetimeFigureOut">
              <a:rPr lang="en-GB" smtClean="0"/>
              <a:pPr/>
              <a:t>01/04/2026</a:t>
            </a:fld>
            <a:endParaRPr lang="en-GB"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DM Serif Text" panose="020F0502020204030204" pitchFamily="2" charset="0"/>
              </a:defRPr>
            </a:lvl1pPr>
          </a:lstStyle>
          <a:p>
            <a:endParaRPr lang="en-GB"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DM Serif Text" panose="020F0502020204030204" pitchFamily="2" charset="0"/>
              </a:defRPr>
            </a:lvl1pPr>
          </a:lstStyle>
          <a:p>
            <a:fld id="{7B61B762-26DC-4006-8C77-85F1C823C6BD}" type="slidenum">
              <a:rPr lang="en-GB" smtClean="0"/>
              <a:pPr/>
              <a:t>‹#›</a:t>
            </a:fld>
            <a:endParaRPr lang="en-GB" dirty="0"/>
          </a:p>
        </p:txBody>
      </p:sp>
    </p:spTree>
    <p:extLst>
      <p:ext uri="{BB962C8B-B14F-4D97-AF65-F5344CB8AC3E}">
        <p14:creationId xmlns:p14="http://schemas.microsoft.com/office/powerpoint/2010/main" val="1382526544"/>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DM Serif Text"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DM Serif Text" panose="020F05020202040302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DM Serif Text" panose="020F05020202040302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DM Serif Text" panose="020F05020202040302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DM Serif Text" panose="020F05020202040302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DM Serif Text" panose="020F05020202040302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1"/>
        <p:cNvGrpSpPr/>
        <p:nvPr/>
      </p:nvGrpSpPr>
      <p:grpSpPr>
        <a:xfrm>
          <a:off x="0" y="0"/>
          <a:ext cx="0" cy="0"/>
          <a:chOff x="0" y="0"/>
          <a:chExt cx="0" cy="0"/>
        </a:xfrm>
      </p:grpSpPr>
      <p:cxnSp>
        <p:nvCxnSpPr>
          <p:cNvPr id="32" name="Google Shape;32;p7"/>
          <p:cNvCxnSpPr/>
          <p:nvPr/>
        </p:nvCxnSpPr>
        <p:spPr>
          <a:xfrm>
            <a:off x="685800" y="6172200"/>
            <a:ext cx="10820400" cy="0"/>
          </a:xfrm>
          <a:prstGeom prst="straightConnector1">
            <a:avLst/>
          </a:prstGeom>
          <a:noFill/>
          <a:ln w="38100" cap="flat" cmpd="sng">
            <a:solidFill>
              <a:srgbClr val="C03221"/>
            </a:solidFill>
            <a:prstDash val="solid"/>
            <a:round/>
            <a:headEnd type="none" w="sm" len="sm"/>
            <a:tailEnd type="none" w="sm" len="sm"/>
          </a:ln>
        </p:spPr>
      </p:cxnSp>
      <p:sp>
        <p:nvSpPr>
          <p:cNvPr id="33" name="Google Shape;33;p7"/>
          <p:cNvSpPr txBox="1"/>
          <p:nvPr/>
        </p:nvSpPr>
        <p:spPr>
          <a:xfrm>
            <a:off x="685800" y="2587216"/>
            <a:ext cx="5623600" cy="1444242"/>
          </a:xfrm>
          <a:prstGeom prst="rect">
            <a:avLst/>
          </a:prstGeom>
          <a:noFill/>
          <a:ln>
            <a:noFill/>
          </a:ln>
        </p:spPr>
        <p:txBody>
          <a:bodyPr spcFirstLastPara="1" wrap="square" lIns="0" tIns="0" rIns="0" bIns="0" anchor="t" anchorCtr="0">
            <a:spAutoFit/>
          </a:bodyPr>
          <a:lstStyle/>
          <a:p>
            <a:pPr>
              <a:lnSpc>
                <a:spcPct val="80000"/>
              </a:lnSpc>
            </a:pPr>
            <a:r>
              <a:rPr lang="en-GB" sz="5866" dirty="0">
                <a:solidFill>
                  <a:srgbClr val="C03221"/>
                </a:solidFill>
                <a:latin typeface="DM Serif Display"/>
                <a:ea typeface="DM Serif Display"/>
                <a:cs typeface="DM Serif Display"/>
                <a:sym typeface="DM Serif Display"/>
              </a:rPr>
              <a:t>Replication Project</a:t>
            </a:r>
            <a:endParaRPr sz="1200" dirty="0">
              <a:latin typeface="DM Serif Text" panose="020F0502020204030204" pitchFamily="2"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7F90A-CD2D-EA0F-3478-C04B16F38BBF}"/>
              </a:ext>
            </a:extLst>
          </p:cNvPr>
          <p:cNvSpPr>
            <a:spLocks noGrp="1"/>
          </p:cNvSpPr>
          <p:nvPr>
            <p:ph type="ctrTitle"/>
          </p:nvPr>
        </p:nvSpPr>
        <p:spPr>
          <a:xfrm>
            <a:off x="385010" y="332872"/>
            <a:ext cx="11421979" cy="4247399"/>
          </a:xfrm>
        </p:spPr>
        <p:txBody>
          <a:bodyPr anchor="ctr">
            <a:noAutofit/>
          </a:bodyPr>
          <a:lstStyle/>
          <a:p>
            <a:pPr algn="l"/>
            <a:r>
              <a:rPr lang="en-GB" sz="4800" dirty="0">
                <a:solidFill>
                  <a:srgbClr val="C03221"/>
                </a:solidFill>
                <a:latin typeface="DM Serif Display"/>
              </a:rPr>
              <a:t>Can Warm Behaviour Mitigate the Negative Effect of Unfavourable Governmental Decisions </a:t>
            </a:r>
            <a:br>
              <a:rPr lang="en-GB" sz="4800" dirty="0">
                <a:solidFill>
                  <a:srgbClr val="C03221"/>
                </a:solidFill>
                <a:latin typeface="DM Serif Display"/>
              </a:rPr>
            </a:br>
            <a:r>
              <a:rPr lang="en-GB" sz="4800" dirty="0">
                <a:solidFill>
                  <a:srgbClr val="C03221"/>
                </a:solidFill>
                <a:latin typeface="DM Serif Display"/>
              </a:rPr>
              <a:t>on Citizens’ Trust?</a:t>
            </a:r>
          </a:p>
        </p:txBody>
      </p:sp>
      <p:sp>
        <p:nvSpPr>
          <p:cNvPr id="3" name="Subtitle 2">
            <a:extLst>
              <a:ext uri="{FF2B5EF4-FFF2-40B4-BE49-F238E27FC236}">
                <a16:creationId xmlns:a16="http://schemas.microsoft.com/office/drawing/2014/main" id="{956AB42A-59CE-602A-2B6A-E3694E8BCEDE}"/>
              </a:ext>
            </a:extLst>
          </p:cNvPr>
          <p:cNvSpPr>
            <a:spLocks noGrp="1"/>
          </p:cNvSpPr>
          <p:nvPr>
            <p:ph type="subTitle" idx="1"/>
          </p:nvPr>
        </p:nvSpPr>
        <p:spPr>
          <a:xfrm>
            <a:off x="1524000" y="5514052"/>
            <a:ext cx="9144000" cy="651910"/>
          </a:xfrm>
        </p:spPr>
        <p:txBody>
          <a:bodyPr anchor="ctr">
            <a:normAutofit/>
          </a:bodyPr>
          <a:lstStyle/>
          <a:p>
            <a:r>
              <a:rPr lang="en-GB" sz="1500" dirty="0"/>
              <a:t>Replication Project </a:t>
            </a:r>
          </a:p>
          <a:p>
            <a:r>
              <a:rPr lang="en-GB" sz="1500" dirty="0"/>
              <a:t>Ellen  Beattie - beattie1@tcd.ie</a:t>
            </a:r>
          </a:p>
        </p:txBody>
      </p:sp>
      <p:cxnSp>
        <p:nvCxnSpPr>
          <p:cNvPr id="4" name="Google Shape;32;p7">
            <a:extLst>
              <a:ext uri="{FF2B5EF4-FFF2-40B4-BE49-F238E27FC236}">
                <a16:creationId xmlns:a16="http://schemas.microsoft.com/office/drawing/2014/main" id="{6A1B0ED8-02D4-6B96-FBEF-EFB797C08494}"/>
              </a:ext>
            </a:extLst>
          </p:cNvPr>
          <p:cNvCxnSpPr/>
          <p:nvPr/>
        </p:nvCxnSpPr>
        <p:spPr>
          <a:xfrm>
            <a:off x="894347" y="6525127"/>
            <a:ext cx="10820400" cy="0"/>
          </a:xfrm>
          <a:prstGeom prst="straightConnector1">
            <a:avLst/>
          </a:prstGeom>
          <a:noFill/>
          <a:ln w="38100" cap="flat" cmpd="sng">
            <a:solidFill>
              <a:schemeClr val="accent5">
                <a:lumMod val="75000"/>
              </a:schemeClr>
            </a:solidFill>
            <a:prstDash val="solid"/>
            <a:round/>
            <a:headEnd type="none" w="sm" len="sm"/>
            <a:tailEnd type="none" w="sm" len="sm"/>
          </a:ln>
        </p:spPr>
      </p:cxnSp>
    </p:spTree>
    <p:extLst>
      <p:ext uri="{BB962C8B-B14F-4D97-AF65-F5344CB8AC3E}">
        <p14:creationId xmlns:p14="http://schemas.microsoft.com/office/powerpoint/2010/main" val="32706916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071F88-1A4C-02B4-8BA2-E833725094E8}"/>
              </a:ext>
            </a:extLst>
          </p:cNvPr>
          <p:cNvSpPr>
            <a:spLocks noGrp="1"/>
          </p:cNvSpPr>
          <p:nvPr>
            <p:ph type="title"/>
          </p:nvPr>
        </p:nvSpPr>
        <p:spPr>
          <a:xfrm>
            <a:off x="0" y="1"/>
            <a:ext cx="12192000" cy="1248696"/>
          </a:xfrm>
          <a:solidFill>
            <a:schemeClr val="accent2">
              <a:lumMod val="75000"/>
            </a:schemeClr>
          </a:solidFill>
          <a:ln>
            <a:solidFill>
              <a:schemeClr val="bg1"/>
            </a:solidFill>
          </a:ln>
        </p:spPr>
        <p:txBody>
          <a:bodyPr>
            <a:normAutofit/>
          </a:bodyPr>
          <a:lstStyle/>
          <a:p>
            <a:r>
              <a:rPr lang="en-GB" sz="5400" dirty="0">
                <a:solidFill>
                  <a:schemeClr val="bg1"/>
                </a:solidFill>
              </a:rPr>
              <a:t>	Paper Theory</a:t>
            </a:r>
          </a:p>
        </p:txBody>
      </p:sp>
      <p:sp>
        <p:nvSpPr>
          <p:cNvPr id="3" name="Content Placeholder 2">
            <a:extLst>
              <a:ext uri="{FF2B5EF4-FFF2-40B4-BE49-F238E27FC236}">
                <a16:creationId xmlns:a16="http://schemas.microsoft.com/office/drawing/2014/main" id="{22CB81CE-4A7C-564A-02CC-1C075001AAC0}"/>
              </a:ext>
            </a:extLst>
          </p:cNvPr>
          <p:cNvSpPr>
            <a:spLocks noGrp="1"/>
          </p:cNvSpPr>
          <p:nvPr>
            <p:ph sz="half" idx="1"/>
          </p:nvPr>
        </p:nvSpPr>
        <p:spPr/>
        <p:txBody>
          <a:bodyPr>
            <a:normAutofit fontScale="70000" lnSpcReduction="20000"/>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Citizens’  trust is fundamental in successful governance</a:t>
            </a:r>
          </a:p>
          <a:p>
            <a:r>
              <a:rPr lang="en-GB" dirty="0">
                <a:latin typeface="CMU Sans Serif" panose="02000603000000000000" pitchFamily="2" charset="0"/>
                <a:ea typeface="CMU Sans Serif" panose="02000603000000000000" pitchFamily="2" charset="0"/>
                <a:cs typeface="CMU Sans Serif" panose="02000603000000000000" pitchFamily="2" charset="0"/>
              </a:rPr>
              <a:t>Trust is often based on performance (e.g. economic stability) and decisions that fit their policy preferences</a:t>
            </a:r>
          </a:p>
          <a:p>
            <a:r>
              <a:rPr lang="en-GB" dirty="0">
                <a:latin typeface="CMU Sans Serif" panose="02000603000000000000" pitchFamily="2" charset="0"/>
                <a:ea typeface="CMU Sans Serif" panose="02000603000000000000" pitchFamily="2" charset="0"/>
                <a:cs typeface="CMU Sans Serif" panose="02000603000000000000" pitchFamily="2" charset="0"/>
              </a:rPr>
              <a:t>There is some evidence that direct interactions with bureaucrats (e.g. applying for benefits)  impact broader government trust </a:t>
            </a:r>
          </a:p>
          <a:p>
            <a:r>
              <a:rPr lang="en-GB" dirty="0">
                <a:latin typeface="CMU Sans Serif" panose="02000603000000000000" pitchFamily="2" charset="0"/>
                <a:ea typeface="CMU Sans Serif" panose="02000603000000000000" pitchFamily="2" charset="0"/>
                <a:cs typeface="CMU Sans Serif" panose="02000603000000000000" pitchFamily="2" charset="0"/>
              </a:rPr>
              <a:t>From social psychology, we  understand the importance of impressions when making evaluative judgements </a:t>
            </a:r>
          </a:p>
          <a:p>
            <a:r>
              <a:rPr lang="en-GB" dirty="0">
                <a:latin typeface="CMU Sans Serif" panose="02000603000000000000" pitchFamily="2" charset="0"/>
                <a:ea typeface="CMU Sans Serif" panose="02000603000000000000" pitchFamily="2" charset="0"/>
                <a:cs typeface="CMU Sans Serif" panose="02000603000000000000" pitchFamily="2" charset="0"/>
              </a:rPr>
              <a:t>When citizens interact with government employees, what is the impact on the perceived traits of this employee and does this impact broader government trust?</a:t>
            </a: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a:p>
            <a:pPr lvl="1"/>
            <a:endParaRPr lang="en-GB" dirty="0">
              <a:latin typeface="CMU Sans Serif" panose="02000603000000000000" pitchFamily="2" charset="0"/>
              <a:ea typeface="CMU Sans Serif" panose="02000603000000000000" pitchFamily="2" charset="0"/>
              <a:cs typeface="CMU Sans Serif" panose="02000603000000000000" pitchFamily="2" charset="0"/>
            </a:endParaRP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p:txBody>
      </p:sp>
      <p:graphicFrame>
        <p:nvGraphicFramePr>
          <p:cNvPr id="7" name="Content Placeholder 6">
            <a:extLst>
              <a:ext uri="{FF2B5EF4-FFF2-40B4-BE49-F238E27FC236}">
                <a16:creationId xmlns:a16="http://schemas.microsoft.com/office/drawing/2014/main" id="{2C310CF1-23B7-26A8-5CBE-1D81DC277A7C}"/>
              </a:ext>
            </a:extLst>
          </p:cNvPr>
          <p:cNvGraphicFramePr>
            <a:graphicFrameLocks noGrp="1"/>
          </p:cNvGraphicFramePr>
          <p:nvPr>
            <p:ph sz="half" idx="2"/>
            <p:extLst>
              <p:ext uri="{D42A27DB-BD31-4B8C-83A1-F6EECF244321}">
                <p14:modId xmlns:p14="http://schemas.microsoft.com/office/powerpoint/2010/main" val="1545355727"/>
              </p:ext>
            </p:extLst>
          </p:nvPr>
        </p:nvGraphicFramePr>
        <p:xfrm>
          <a:off x="6172199" y="1533832"/>
          <a:ext cx="5734665" cy="46431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10139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79FE6-0FC2-03DE-AF64-19FDA3DC3D5C}"/>
              </a:ext>
            </a:extLst>
          </p:cNvPr>
          <p:cNvSpPr>
            <a:spLocks noGrp="1"/>
          </p:cNvSpPr>
          <p:nvPr>
            <p:ph type="title"/>
          </p:nvPr>
        </p:nvSpPr>
        <p:spPr>
          <a:xfrm>
            <a:off x="184765" y="137488"/>
            <a:ext cx="4894006" cy="1325563"/>
          </a:xfrm>
        </p:spPr>
        <p:txBody>
          <a:bodyPr>
            <a:normAutofit/>
          </a:bodyPr>
          <a:lstStyle/>
          <a:p>
            <a:r>
              <a:rPr lang="en-GB" sz="4800" dirty="0"/>
              <a:t>Method</a:t>
            </a:r>
          </a:p>
        </p:txBody>
      </p:sp>
      <p:graphicFrame>
        <p:nvGraphicFramePr>
          <p:cNvPr id="4" name="Content Placeholder 3">
            <a:extLst>
              <a:ext uri="{FF2B5EF4-FFF2-40B4-BE49-F238E27FC236}">
                <a16:creationId xmlns:a16="http://schemas.microsoft.com/office/drawing/2014/main" id="{BF349E40-7BCE-AB80-2FBA-EA1FFED73A94}"/>
              </a:ext>
            </a:extLst>
          </p:cNvPr>
          <p:cNvGraphicFramePr>
            <a:graphicFrameLocks noGrp="1"/>
          </p:cNvGraphicFramePr>
          <p:nvPr>
            <p:ph idx="1"/>
            <p:extLst>
              <p:ext uri="{D42A27DB-BD31-4B8C-83A1-F6EECF244321}">
                <p14:modId xmlns:p14="http://schemas.microsoft.com/office/powerpoint/2010/main" val="1044785058"/>
              </p:ext>
            </p:extLst>
          </p:nvPr>
        </p:nvGraphicFramePr>
        <p:xfrm>
          <a:off x="7474973" y="253368"/>
          <a:ext cx="4225414" cy="3720341"/>
        </p:xfrm>
        <a:graphic>
          <a:graphicData uri="http://schemas.openxmlformats.org/drawingml/2006/table">
            <a:tbl>
              <a:tblPr firstRow="1" bandRow="1">
                <a:tableStyleId>{5C22544A-7EE6-4342-B048-85BDC9FD1C3A}</a:tableStyleId>
              </a:tblPr>
              <a:tblGrid>
                <a:gridCol w="356490">
                  <a:extLst>
                    <a:ext uri="{9D8B030D-6E8A-4147-A177-3AD203B41FA5}">
                      <a16:colId xmlns:a16="http://schemas.microsoft.com/office/drawing/2014/main" val="3590164946"/>
                    </a:ext>
                  </a:extLst>
                </a:gridCol>
                <a:gridCol w="440976">
                  <a:extLst>
                    <a:ext uri="{9D8B030D-6E8A-4147-A177-3AD203B41FA5}">
                      <a16:colId xmlns:a16="http://schemas.microsoft.com/office/drawing/2014/main" val="2202087252"/>
                    </a:ext>
                  </a:extLst>
                </a:gridCol>
                <a:gridCol w="1621327">
                  <a:extLst>
                    <a:ext uri="{9D8B030D-6E8A-4147-A177-3AD203B41FA5}">
                      <a16:colId xmlns:a16="http://schemas.microsoft.com/office/drawing/2014/main" val="3108853920"/>
                    </a:ext>
                  </a:extLst>
                </a:gridCol>
                <a:gridCol w="1806621">
                  <a:extLst>
                    <a:ext uri="{9D8B030D-6E8A-4147-A177-3AD203B41FA5}">
                      <a16:colId xmlns:a16="http://schemas.microsoft.com/office/drawing/2014/main" val="3927206195"/>
                    </a:ext>
                  </a:extLst>
                </a:gridCol>
              </a:tblGrid>
              <a:tr h="378624">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lang="en-GB" sz="1200" b="1" kern="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Government Caseworker</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en-GB" sz="1200" b="1" kern="1200" dirty="0">
                        <a:solidFill>
                          <a:sysClr val="windowText" lastClr="000000"/>
                        </a:solidFill>
                        <a:latin typeface="+mn-lt"/>
                        <a:ea typeface="+mn-ea"/>
                        <a:cs typeface="+mn-cs"/>
                      </a:endParaRPr>
                    </a:p>
                  </a:txBody>
                  <a:tcPr anchor="ctr">
                    <a:lnL w="12700" cap="flat" cmpd="sng" algn="ctr">
                      <a:solidFill>
                        <a:schemeClr val="tx1">
                          <a:lumMod val="85000"/>
                          <a:lumOff val="15000"/>
                        </a:schemeClr>
                      </a:solidFill>
                      <a:prstDash val="solid"/>
                      <a:round/>
                      <a:headEnd type="none" w="med" len="med"/>
                      <a:tailEnd type="none" w="med" len="med"/>
                    </a:lnL>
                    <a:lnR w="12700" cmpd="sng">
                      <a:noFill/>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0852057"/>
                  </a:ext>
                </a:extLst>
              </a:tr>
              <a:tr h="275303">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Warmth = 1</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Warmth =0</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1825418483"/>
                  </a:ext>
                </a:extLst>
              </a:tr>
              <a:tr h="1533207">
                <a:tc rowSpan="2">
                  <a:txBody>
                    <a:bodyPr/>
                    <a:lstStyle/>
                    <a:p>
                      <a:pPr algn="ctr"/>
                      <a:r>
                        <a:rPr lang="en-GB" sz="1200" b="1" kern="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Result of Nursing Home Application</a:t>
                      </a:r>
                    </a:p>
                  </a:txBody>
                  <a:tcPr vert="vert270" anchor="ct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Favourability = 0</a:t>
                      </a:r>
                    </a:p>
                  </a:txBody>
                  <a:tcPr vert="vert27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i="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1</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High Warmth +  Unfavourable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4  </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Low Warmth + Unfavourable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8698160"/>
                  </a:ext>
                </a:extLst>
              </a:tr>
              <a:tr h="1533207">
                <a:tc vMerge="1">
                  <a:txBody>
                    <a:bodyPr/>
                    <a:lstStyle/>
                    <a:p>
                      <a:pPr algn="ctr"/>
                      <a:endParaRPr lang="en-GB" sz="1200" b="1" kern="1200" dirty="0">
                        <a:solidFill>
                          <a:sysClr val="windowText" lastClr="000000"/>
                        </a:solidFill>
                        <a:latin typeface="+mn-lt"/>
                        <a:ea typeface="+mn-ea"/>
                        <a:cs typeface="+mn-cs"/>
                      </a:endParaRPr>
                    </a:p>
                  </a:txBody>
                  <a:tcPr vert="vert270"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Favourability = 1</a:t>
                      </a:r>
                    </a:p>
                  </a:txBody>
                  <a:tcPr vert="vert27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2</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High Warmth + 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3</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Low Warmth +  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4337336"/>
                  </a:ext>
                </a:extLst>
              </a:tr>
            </a:tbl>
          </a:graphicData>
        </a:graphic>
      </p:graphicFrame>
      <p:pic>
        <p:nvPicPr>
          <p:cNvPr id="1026" name="Picture 2" descr="National Board of Social Services, Denmark | ESN">
            <a:extLst>
              <a:ext uri="{FF2B5EF4-FFF2-40B4-BE49-F238E27FC236}">
                <a16:creationId xmlns:a16="http://schemas.microsoft.com/office/drawing/2014/main" id="{8AA01395-3195-8D18-F8E5-B87076F4F6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118919"/>
            <a:ext cx="2898468" cy="173908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3C71696-76A2-3DDB-0F07-30F66DF349C5}"/>
              </a:ext>
            </a:extLst>
          </p:cNvPr>
          <p:cNvSpPr txBox="1"/>
          <p:nvPr/>
        </p:nvSpPr>
        <p:spPr>
          <a:xfrm>
            <a:off x="230959" y="1463051"/>
            <a:ext cx="6760044" cy="2800767"/>
          </a:xfrm>
          <a:prstGeom prst="rect">
            <a:avLst/>
          </a:prstGeom>
          <a:noFill/>
          <a:ln>
            <a:noFill/>
          </a:ln>
        </p:spPr>
        <p:txBody>
          <a:bodyPr wrap="square" rtlCol="0">
            <a:spAutoFit/>
          </a:bodyPr>
          <a:lstStyle/>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2 x 2 survey experiment on representative sample of Danish Citizens  (n = 1613) </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Participant read a vignette in which they are helping a close elderly relative apply for a place in a nursing home</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Vignette manipulates two features: the description of the caseworker (high or low warmth) and decision on the application (accepted versus rejected).</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Participants answered a series of demographic questions as well as rating the caseworker and decision on a number of traits</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To record the dependent measures they rated on a 0-10 scale how much they trusted (a) the bureaucrat and (b) the municipality </a:t>
            </a:r>
          </a:p>
        </p:txBody>
      </p:sp>
      <p:sp>
        <p:nvSpPr>
          <p:cNvPr id="6" name="TextBox 5">
            <a:extLst>
              <a:ext uri="{FF2B5EF4-FFF2-40B4-BE49-F238E27FC236}">
                <a16:creationId xmlns:a16="http://schemas.microsoft.com/office/drawing/2014/main" id="{5AADB8F0-2EA6-78F4-732F-CCE66C3B1564}"/>
              </a:ext>
            </a:extLst>
          </p:cNvPr>
          <p:cNvSpPr txBox="1"/>
          <p:nvPr/>
        </p:nvSpPr>
        <p:spPr>
          <a:xfrm>
            <a:off x="3516571" y="5486128"/>
            <a:ext cx="8575163" cy="323165"/>
          </a:xfrm>
          <a:prstGeom prst="rect">
            <a:avLst/>
          </a:prstGeom>
          <a:noFill/>
        </p:spPr>
        <p:txBody>
          <a:bodyPr wrap="square" rtlCol="0">
            <a:spAutoFit/>
          </a:bodyPr>
          <a:lstStyle/>
          <a:p>
            <a:r>
              <a:rPr lang="en-GB" sz="1500" dirty="0">
                <a:latin typeface="DM Serif Text" pitchFamily="2" charset="0"/>
                <a:ea typeface="CMU Sans Serif" panose="02000603000000000000" pitchFamily="2" charset="0"/>
                <a:cs typeface="CMU Sans Serif" panose="02000603000000000000" pitchFamily="2" charset="0"/>
              </a:rPr>
              <a:t>“How much do you personally trust the [municipality/the caseworker] to make the right decisions?”</a:t>
            </a:r>
          </a:p>
        </p:txBody>
      </p:sp>
      <p:graphicFrame>
        <p:nvGraphicFramePr>
          <p:cNvPr id="7" name="Table 6">
            <a:extLst>
              <a:ext uri="{FF2B5EF4-FFF2-40B4-BE49-F238E27FC236}">
                <a16:creationId xmlns:a16="http://schemas.microsoft.com/office/drawing/2014/main" id="{1B7902CF-CE4A-EEE2-19B4-9BAC4D3264E9}"/>
              </a:ext>
            </a:extLst>
          </p:cNvPr>
          <p:cNvGraphicFramePr>
            <a:graphicFrameLocks noGrp="1"/>
          </p:cNvGraphicFramePr>
          <p:nvPr>
            <p:extLst>
              <p:ext uri="{D42A27DB-BD31-4B8C-83A1-F6EECF244321}">
                <p14:modId xmlns:p14="http://schemas.microsoft.com/office/powerpoint/2010/main" val="3849311476"/>
              </p:ext>
            </p:extLst>
          </p:nvPr>
        </p:nvGraphicFramePr>
        <p:xfrm>
          <a:off x="4189931" y="5890551"/>
          <a:ext cx="6719944" cy="370840"/>
        </p:xfrm>
        <a:graphic>
          <a:graphicData uri="http://schemas.openxmlformats.org/drawingml/2006/table">
            <a:tbl>
              <a:tblPr firstRow="1" bandRow="1">
                <a:tableStyleId>{5C22544A-7EE6-4342-B048-85BDC9FD1C3A}</a:tableStyleId>
              </a:tblPr>
              <a:tblGrid>
                <a:gridCol w="610904">
                  <a:extLst>
                    <a:ext uri="{9D8B030D-6E8A-4147-A177-3AD203B41FA5}">
                      <a16:colId xmlns:a16="http://schemas.microsoft.com/office/drawing/2014/main" val="1172545776"/>
                    </a:ext>
                  </a:extLst>
                </a:gridCol>
                <a:gridCol w="610904">
                  <a:extLst>
                    <a:ext uri="{9D8B030D-6E8A-4147-A177-3AD203B41FA5}">
                      <a16:colId xmlns:a16="http://schemas.microsoft.com/office/drawing/2014/main" val="2590218934"/>
                    </a:ext>
                  </a:extLst>
                </a:gridCol>
                <a:gridCol w="610904">
                  <a:extLst>
                    <a:ext uri="{9D8B030D-6E8A-4147-A177-3AD203B41FA5}">
                      <a16:colId xmlns:a16="http://schemas.microsoft.com/office/drawing/2014/main" val="3838616275"/>
                    </a:ext>
                  </a:extLst>
                </a:gridCol>
                <a:gridCol w="610904">
                  <a:extLst>
                    <a:ext uri="{9D8B030D-6E8A-4147-A177-3AD203B41FA5}">
                      <a16:colId xmlns:a16="http://schemas.microsoft.com/office/drawing/2014/main" val="1760050832"/>
                    </a:ext>
                  </a:extLst>
                </a:gridCol>
                <a:gridCol w="610904">
                  <a:extLst>
                    <a:ext uri="{9D8B030D-6E8A-4147-A177-3AD203B41FA5}">
                      <a16:colId xmlns:a16="http://schemas.microsoft.com/office/drawing/2014/main" val="3400197775"/>
                    </a:ext>
                  </a:extLst>
                </a:gridCol>
                <a:gridCol w="610904">
                  <a:extLst>
                    <a:ext uri="{9D8B030D-6E8A-4147-A177-3AD203B41FA5}">
                      <a16:colId xmlns:a16="http://schemas.microsoft.com/office/drawing/2014/main" val="3899793948"/>
                    </a:ext>
                  </a:extLst>
                </a:gridCol>
                <a:gridCol w="610904">
                  <a:extLst>
                    <a:ext uri="{9D8B030D-6E8A-4147-A177-3AD203B41FA5}">
                      <a16:colId xmlns:a16="http://schemas.microsoft.com/office/drawing/2014/main" val="1246873709"/>
                    </a:ext>
                  </a:extLst>
                </a:gridCol>
                <a:gridCol w="610904">
                  <a:extLst>
                    <a:ext uri="{9D8B030D-6E8A-4147-A177-3AD203B41FA5}">
                      <a16:colId xmlns:a16="http://schemas.microsoft.com/office/drawing/2014/main" val="3927817840"/>
                    </a:ext>
                  </a:extLst>
                </a:gridCol>
                <a:gridCol w="610904">
                  <a:extLst>
                    <a:ext uri="{9D8B030D-6E8A-4147-A177-3AD203B41FA5}">
                      <a16:colId xmlns:a16="http://schemas.microsoft.com/office/drawing/2014/main" val="3609666915"/>
                    </a:ext>
                  </a:extLst>
                </a:gridCol>
                <a:gridCol w="610904">
                  <a:extLst>
                    <a:ext uri="{9D8B030D-6E8A-4147-A177-3AD203B41FA5}">
                      <a16:colId xmlns:a16="http://schemas.microsoft.com/office/drawing/2014/main" val="3470091660"/>
                    </a:ext>
                  </a:extLst>
                </a:gridCol>
                <a:gridCol w="610904">
                  <a:extLst>
                    <a:ext uri="{9D8B030D-6E8A-4147-A177-3AD203B41FA5}">
                      <a16:colId xmlns:a16="http://schemas.microsoft.com/office/drawing/2014/main" val="2766637368"/>
                    </a:ext>
                  </a:extLst>
                </a:gridCol>
              </a:tblGrid>
              <a:tr h="370840">
                <a:tc>
                  <a:txBody>
                    <a:bodyPr/>
                    <a:lstStyle/>
                    <a:p>
                      <a:pPr algn="ctr"/>
                      <a:r>
                        <a:rPr lang="en-GB" sz="1600" dirty="0">
                          <a:solidFill>
                            <a:schemeClr val="bg1"/>
                          </a:solidFill>
                        </a:rPr>
                        <a:t>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7</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8</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9</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10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2793780668"/>
                  </a:ext>
                </a:extLst>
              </a:tr>
            </a:tbl>
          </a:graphicData>
        </a:graphic>
      </p:graphicFrame>
      <p:sp>
        <p:nvSpPr>
          <p:cNvPr id="9" name="TextBox 8">
            <a:extLst>
              <a:ext uri="{FF2B5EF4-FFF2-40B4-BE49-F238E27FC236}">
                <a16:creationId xmlns:a16="http://schemas.microsoft.com/office/drawing/2014/main" id="{58CAB7D4-F4A0-888F-81B7-293421F22DED}"/>
              </a:ext>
            </a:extLst>
          </p:cNvPr>
          <p:cNvSpPr txBox="1"/>
          <p:nvPr/>
        </p:nvSpPr>
        <p:spPr>
          <a:xfrm>
            <a:off x="3873909" y="6587921"/>
            <a:ext cx="1512857" cy="307777"/>
          </a:xfrm>
          <a:prstGeom prst="rect">
            <a:avLst/>
          </a:prstGeom>
          <a:noFill/>
        </p:spPr>
        <p:txBody>
          <a:bodyPr wrap="square" rtlCol="0">
            <a:spAutoFit/>
          </a:bodyPr>
          <a:lstStyle/>
          <a:p>
            <a:r>
              <a:rPr lang="en-GB" sz="1400" dirty="0">
                <a:latin typeface="CMU Sans Serif" panose="02000603000000000000" pitchFamily="2" charset="0"/>
                <a:ea typeface="CMU Sans Serif" panose="02000603000000000000" pitchFamily="2" charset="0"/>
                <a:cs typeface="CMU Sans Serif" panose="02000603000000000000" pitchFamily="2" charset="0"/>
              </a:rPr>
              <a:t>‘No Trust At All’</a:t>
            </a:r>
          </a:p>
        </p:txBody>
      </p:sp>
      <p:sp>
        <p:nvSpPr>
          <p:cNvPr id="10" name="TextBox 9">
            <a:extLst>
              <a:ext uri="{FF2B5EF4-FFF2-40B4-BE49-F238E27FC236}">
                <a16:creationId xmlns:a16="http://schemas.microsoft.com/office/drawing/2014/main" id="{88010D0C-2851-9D24-F78A-6A580294BE86}"/>
              </a:ext>
            </a:extLst>
          </p:cNvPr>
          <p:cNvSpPr txBox="1"/>
          <p:nvPr/>
        </p:nvSpPr>
        <p:spPr>
          <a:xfrm>
            <a:off x="9849302" y="6550223"/>
            <a:ext cx="1851085" cy="307777"/>
          </a:xfrm>
          <a:prstGeom prst="rect">
            <a:avLst/>
          </a:prstGeom>
          <a:noFill/>
        </p:spPr>
        <p:txBody>
          <a:bodyPr wrap="square" rtlCol="0">
            <a:spAutoFit/>
          </a:bodyPr>
          <a:lstStyle/>
          <a:p>
            <a:r>
              <a:rPr lang="en-GB" sz="1400" dirty="0">
                <a:latin typeface="CMU Sans Serif" panose="02000603000000000000" pitchFamily="2" charset="0"/>
                <a:ea typeface="CMU Sans Serif" panose="02000603000000000000" pitchFamily="2" charset="0"/>
                <a:cs typeface="CMU Sans Serif" panose="02000603000000000000" pitchFamily="2" charset="0"/>
              </a:rPr>
              <a:t>‘Completely Trust’</a:t>
            </a:r>
          </a:p>
        </p:txBody>
      </p:sp>
      <p:cxnSp>
        <p:nvCxnSpPr>
          <p:cNvPr id="12" name="Straight Arrow Connector 11">
            <a:extLst>
              <a:ext uri="{FF2B5EF4-FFF2-40B4-BE49-F238E27FC236}">
                <a16:creationId xmlns:a16="http://schemas.microsoft.com/office/drawing/2014/main" id="{6B840970-8906-0693-59F1-1F1927604531}"/>
              </a:ext>
            </a:extLst>
          </p:cNvPr>
          <p:cNvCxnSpPr/>
          <p:nvPr/>
        </p:nvCxnSpPr>
        <p:spPr>
          <a:xfrm flipV="1">
            <a:off x="4493342" y="6261391"/>
            <a:ext cx="0" cy="277358"/>
          </a:xfrm>
          <a:prstGeom prst="straightConnector1">
            <a:avLst/>
          </a:prstGeom>
          <a:ln>
            <a:solidFill>
              <a:schemeClr val="accent2">
                <a:lumMod val="75000"/>
              </a:schemeClr>
            </a:solidFill>
            <a:tailEnd type="triangle"/>
          </a:ln>
        </p:spPr>
        <p:style>
          <a:lnRef idx="2">
            <a:schemeClr val="accent2"/>
          </a:lnRef>
          <a:fillRef idx="0">
            <a:schemeClr val="accent2"/>
          </a:fillRef>
          <a:effectRef idx="1">
            <a:schemeClr val="accent2"/>
          </a:effectRef>
          <a:fontRef idx="minor">
            <a:schemeClr val="tx1"/>
          </a:fontRef>
        </p:style>
      </p:cxnSp>
      <p:cxnSp>
        <p:nvCxnSpPr>
          <p:cNvPr id="13" name="Straight Arrow Connector 12">
            <a:extLst>
              <a:ext uri="{FF2B5EF4-FFF2-40B4-BE49-F238E27FC236}">
                <a16:creationId xmlns:a16="http://schemas.microsoft.com/office/drawing/2014/main" id="{5997B019-E9A2-69EC-6463-9843EB92EF95}"/>
              </a:ext>
            </a:extLst>
          </p:cNvPr>
          <p:cNvCxnSpPr/>
          <p:nvPr/>
        </p:nvCxnSpPr>
        <p:spPr>
          <a:xfrm flipV="1">
            <a:off x="10605730" y="6310563"/>
            <a:ext cx="0" cy="277358"/>
          </a:xfrm>
          <a:prstGeom prst="straightConnector1">
            <a:avLst/>
          </a:prstGeom>
          <a:ln>
            <a:solidFill>
              <a:schemeClr val="accent2">
                <a:lumMod val="75000"/>
              </a:schemeClr>
            </a:solidFill>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F23B9519-39A5-2758-5421-F760CB3B3492}"/>
              </a:ext>
            </a:extLst>
          </p:cNvPr>
          <p:cNvSpPr txBox="1"/>
          <p:nvPr/>
        </p:nvSpPr>
        <p:spPr>
          <a:xfrm>
            <a:off x="4335445" y="4504153"/>
            <a:ext cx="6428916" cy="1107996"/>
          </a:xfrm>
          <a:prstGeom prst="rect">
            <a:avLst/>
          </a:prstGeom>
          <a:noFill/>
        </p:spPr>
        <p:txBody>
          <a:bodyPr wrap="square" rtlCol="0">
            <a:spAutoFit/>
          </a:bodyPr>
          <a:lstStyle/>
          <a:p>
            <a:pPr lvl="1" algn="just"/>
            <a:r>
              <a:rPr lang="en-GB" sz="1200" i="1" dirty="0">
                <a:latin typeface="CMU Sans Serif" panose="02000603000000000000" pitchFamily="2" charset="0"/>
                <a:ea typeface="CMU Sans Serif" panose="02000603000000000000" pitchFamily="2" charset="0"/>
                <a:cs typeface="CMU Sans Serif" panose="02000603000000000000" pitchFamily="2" charset="0"/>
              </a:rPr>
              <a:t>i.e. “the caseworker answered all your questions in a [warm and friendly / cold and unfriendly]  manner … “</a:t>
            </a:r>
          </a:p>
          <a:p>
            <a:pPr lvl="1" algn="just"/>
            <a:r>
              <a:rPr lang="en-GB" sz="1200" i="1" dirty="0">
                <a:latin typeface="CMU Sans Serif" panose="02000603000000000000" pitchFamily="2" charset="0"/>
                <a:ea typeface="CMU Sans Serif" panose="02000603000000000000" pitchFamily="2" charset="0"/>
                <a:cs typeface="CMU Sans Serif" panose="02000603000000000000" pitchFamily="2" charset="0"/>
              </a:rPr>
              <a:t>“based on the caseworker’s recommendation, the municipality has decided to [reject/approve] the application to enter a nursing home.</a:t>
            </a:r>
          </a:p>
          <a:p>
            <a:endParaRPr lang="en-GB" dirty="0"/>
          </a:p>
        </p:txBody>
      </p:sp>
    </p:spTree>
    <p:extLst>
      <p:ext uri="{BB962C8B-B14F-4D97-AF65-F5344CB8AC3E}">
        <p14:creationId xmlns:p14="http://schemas.microsoft.com/office/powerpoint/2010/main" val="440442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10FD15-4848-0EB7-6F83-7793DDABC0C9}"/>
              </a:ext>
            </a:extLst>
          </p:cNvPr>
          <p:cNvSpPr>
            <a:spLocks noGrp="1"/>
          </p:cNvSpPr>
          <p:nvPr>
            <p:ph type="title"/>
          </p:nvPr>
        </p:nvSpPr>
        <p:spPr>
          <a:xfrm>
            <a:off x="640080" y="329184"/>
            <a:ext cx="6894576" cy="1783080"/>
          </a:xfrm>
        </p:spPr>
        <p:txBody>
          <a:bodyPr anchor="b">
            <a:normAutofit/>
          </a:bodyPr>
          <a:lstStyle/>
          <a:p>
            <a:r>
              <a:rPr lang="en-GB" sz="5400" dirty="0"/>
              <a:t>Data</a:t>
            </a:r>
          </a:p>
        </p:txBody>
      </p:sp>
      <p:sp>
        <p:nvSpPr>
          <p:cNvPr id="26"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37D7A28-F920-F94E-39A5-EA987DC7DDF7}"/>
              </a:ext>
            </a:extLst>
          </p:cNvPr>
          <p:cNvSpPr>
            <a:spLocks noGrp="1"/>
          </p:cNvSpPr>
          <p:nvPr>
            <p:ph idx="1"/>
          </p:nvPr>
        </p:nvSpPr>
        <p:spPr>
          <a:xfrm>
            <a:off x="640080" y="2706624"/>
            <a:ext cx="6894576" cy="3483864"/>
          </a:xfrm>
        </p:spPr>
        <p:txBody>
          <a:bodyPr>
            <a:normAutofit/>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The two experimental treatments were coded into dummy variables: ’</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of treatment  → 0 = Unfavourable, 1 = Favourable</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 warmth treatment → 0 = Low Warmth, 1 = High Warmth</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Outcome variables ’trust b’ and ’trust m’ were rescaled from their original ‘0-10’ scale to a ‘0-1’ scale</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E.g. 5 → 0.5</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Other demographic variables and manipulation validity test measures were included</a:t>
            </a:r>
          </a:p>
          <a:p>
            <a:endParaRPr lang="en-GB" sz="2000" dirty="0">
              <a:latin typeface="CMU Sans Serif" panose="02000603000000000000" pitchFamily="2" charset="0"/>
              <a:ea typeface="CMU Sans Serif" panose="02000603000000000000" pitchFamily="2" charset="0"/>
              <a:cs typeface="CMU Sans Serif" panose="02000603000000000000" pitchFamily="2" charset="0"/>
            </a:endParaRPr>
          </a:p>
        </p:txBody>
      </p:sp>
      <p:pic>
        <p:nvPicPr>
          <p:cNvPr id="19" name="Picture 18" descr="A screenshot of a computer program&#10;&#10;AI-generated content may be incorrect.">
            <a:extLst>
              <a:ext uri="{FF2B5EF4-FFF2-40B4-BE49-F238E27FC236}">
                <a16:creationId xmlns:a16="http://schemas.microsoft.com/office/drawing/2014/main" id="{B1AFE3EA-CFB5-6E9B-C2FF-043F2FBB8076}"/>
              </a:ext>
            </a:extLst>
          </p:cNvPr>
          <p:cNvPicPr>
            <a:picLocks noChangeAspect="1"/>
          </p:cNvPicPr>
          <p:nvPr/>
        </p:nvPicPr>
        <p:blipFill>
          <a:blip r:embed="rId2"/>
          <a:stretch>
            <a:fillRect/>
          </a:stretch>
        </p:blipFill>
        <p:spPr>
          <a:xfrm>
            <a:off x="7854696" y="3153570"/>
            <a:ext cx="4014216" cy="3109225"/>
          </a:xfrm>
          <a:prstGeom prst="rect">
            <a:avLst/>
          </a:prstGeom>
          <a:ln w="28575">
            <a:solidFill>
              <a:schemeClr val="accent2">
                <a:lumMod val="75000"/>
              </a:schemeClr>
            </a:solidFill>
          </a:ln>
        </p:spPr>
      </p:pic>
      <p:pic>
        <p:nvPicPr>
          <p:cNvPr id="9" name="Picture 8" descr="A white background with numbers and text&#10;&#10;AI-generated content may be incorrect.">
            <a:extLst>
              <a:ext uri="{FF2B5EF4-FFF2-40B4-BE49-F238E27FC236}">
                <a16:creationId xmlns:a16="http://schemas.microsoft.com/office/drawing/2014/main" id="{9302527A-30F6-582C-9A47-BDAD377A35C2}"/>
              </a:ext>
            </a:extLst>
          </p:cNvPr>
          <p:cNvPicPr>
            <a:picLocks noChangeAspect="1"/>
          </p:cNvPicPr>
          <p:nvPr/>
        </p:nvPicPr>
        <p:blipFill>
          <a:blip r:embed="rId3"/>
          <a:stretch>
            <a:fillRect/>
          </a:stretch>
        </p:blipFill>
        <p:spPr>
          <a:xfrm>
            <a:off x="5566770" y="319775"/>
            <a:ext cx="6441986" cy="2238590"/>
          </a:xfrm>
          <a:prstGeom prst="rect">
            <a:avLst/>
          </a:prstGeom>
        </p:spPr>
      </p:pic>
      <p:sp>
        <p:nvSpPr>
          <p:cNvPr id="20" name="TextBox 19">
            <a:extLst>
              <a:ext uri="{FF2B5EF4-FFF2-40B4-BE49-F238E27FC236}">
                <a16:creationId xmlns:a16="http://schemas.microsoft.com/office/drawing/2014/main" id="{3BAE579E-311D-563D-D8C1-82825D0C8BA0}"/>
              </a:ext>
            </a:extLst>
          </p:cNvPr>
          <p:cNvSpPr txBox="1"/>
          <p:nvPr/>
        </p:nvSpPr>
        <p:spPr>
          <a:xfrm>
            <a:off x="7854696" y="2760165"/>
            <a:ext cx="2454442" cy="338554"/>
          </a:xfrm>
          <a:prstGeom prst="rect">
            <a:avLst/>
          </a:prstGeom>
          <a:noFill/>
        </p:spPr>
        <p:txBody>
          <a:bodyPr wrap="square" rtlCol="0">
            <a:spAutoFit/>
          </a:bodyPr>
          <a:lstStyle/>
          <a:p>
            <a:r>
              <a:rPr lang="en-GB" sz="1600" dirty="0">
                <a:latin typeface="DM Serif Text" panose="020F0502020204030204" pitchFamily="2" charset="0"/>
              </a:rPr>
              <a:t>Included Variables </a:t>
            </a:r>
          </a:p>
        </p:txBody>
      </p:sp>
    </p:spTree>
    <p:extLst>
      <p:ext uri="{BB962C8B-B14F-4D97-AF65-F5344CB8AC3E}">
        <p14:creationId xmlns:p14="http://schemas.microsoft.com/office/powerpoint/2010/main" val="2836050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BCB1478-199E-687F-C052-924337C8D6EE}"/>
              </a:ext>
            </a:extLst>
          </p:cNvPr>
          <p:cNvSpPr>
            <a:spLocks noGrp="1"/>
          </p:cNvSpPr>
          <p:nvPr>
            <p:ph type="title"/>
          </p:nvPr>
        </p:nvSpPr>
        <p:spPr>
          <a:xfrm>
            <a:off x="210422" y="194941"/>
            <a:ext cx="5588494" cy="1014263"/>
          </a:xfrm>
        </p:spPr>
        <p:txBody>
          <a:bodyPr vert="horz" lIns="91440" tIns="45720" rIns="91440" bIns="45720" rtlCol="0" anchor="b">
            <a:normAutofit/>
          </a:bodyPr>
          <a:lstStyle/>
          <a:p>
            <a:r>
              <a:rPr lang="en-US" sz="4800" kern="1200" dirty="0">
                <a:solidFill>
                  <a:schemeClr val="tx1"/>
                </a:solidFill>
                <a:latin typeface="DM Serif Display" pitchFamily="2" charset="0"/>
              </a:rPr>
              <a:t>Original Study</a:t>
            </a:r>
          </a:p>
        </p:txBody>
      </p:sp>
      <p:sp>
        <p:nvSpPr>
          <p:cNvPr id="6" name="Content Placeholder 5">
            <a:extLst>
              <a:ext uri="{FF2B5EF4-FFF2-40B4-BE49-F238E27FC236}">
                <a16:creationId xmlns:a16="http://schemas.microsoft.com/office/drawing/2014/main" id="{3105E852-38E2-5CFC-BA22-863AC7208CAA}"/>
              </a:ext>
            </a:extLst>
          </p:cNvPr>
          <p:cNvSpPr>
            <a:spLocks noGrp="1"/>
          </p:cNvSpPr>
          <p:nvPr>
            <p:ph sz="half" idx="2"/>
          </p:nvPr>
        </p:nvSpPr>
        <p:spPr>
          <a:xfrm>
            <a:off x="210422" y="1711738"/>
            <a:ext cx="5588494" cy="4186526"/>
          </a:xfrm>
        </p:spPr>
        <p:txBody>
          <a:bodyPr vert="horz" lIns="91440" tIns="45720" rIns="91440" bIns="45720" rtlCol="0" anchor="t">
            <a:normAutofit/>
          </a:bodyPr>
          <a:lstStyle/>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author conducts four OLS linear regression, with the two trust outcomes variables testing simple and interaction models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Decision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favourability</a:t>
            </a:r>
            <a:r>
              <a:rPr lang="en-US" sz="2000" dirty="0">
                <a:latin typeface="CMU Sans Serif" panose="02000603000000000000" pitchFamily="2" charset="0"/>
                <a:ea typeface="CMU Sans Serif" panose="02000603000000000000" pitchFamily="2" charset="0"/>
                <a:cs typeface="CMU Sans Serif" panose="02000603000000000000" pitchFamily="2" charset="0"/>
              </a:rPr>
              <a:t> significantly increases citizens level of trust in both the bureaucrat and the municipality, an increase of  18.8% points and  17.9% points respectively </a:t>
            </a:r>
            <a:r>
              <a:rPr lang="en-GB" sz="2000" dirty="0">
                <a:latin typeface="CMU Sans Serif" panose="02000603000000000000" pitchFamily="2" charset="0"/>
                <a:ea typeface="CMU Sans Serif" panose="02000603000000000000" pitchFamily="2" charset="0"/>
                <a:cs typeface="CMU Sans Serif" panose="02000603000000000000" pitchFamily="2" charset="0"/>
              </a:rPr>
              <a:t>→  supporting H1</a:t>
            </a:r>
            <a:r>
              <a:rPr lang="en-US" sz="2000" dirty="0">
                <a:latin typeface="CMU Sans Serif" panose="02000603000000000000" pitchFamily="2" charset="0"/>
                <a:ea typeface="CMU Sans Serif" panose="02000603000000000000" pitchFamily="2" charset="0"/>
                <a:cs typeface="CMU Sans Serif" panose="02000603000000000000" pitchFamily="2" charset="0"/>
              </a:rPr>
              <a:t>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effect of outcome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favourability</a:t>
            </a:r>
            <a:r>
              <a:rPr lang="en-US" sz="2000" dirty="0">
                <a:latin typeface="CMU Sans Serif" panose="02000603000000000000" pitchFamily="2" charset="0"/>
                <a:ea typeface="CMU Sans Serif" panose="02000603000000000000" pitchFamily="2" charset="0"/>
                <a:cs typeface="CMU Sans Serif" panose="02000603000000000000" pitchFamily="2" charset="0"/>
              </a:rPr>
              <a:t> is not weaker when bureaucrats showed high warmth versus low warmth, as demonstrated by the non-significant interaction terms for both outcome </a:t>
            </a:r>
            <a:r>
              <a:rPr lang="en-GB" sz="2000" dirty="0">
                <a:latin typeface="CMU Sans Serif" panose="02000603000000000000" pitchFamily="2" charset="0"/>
                <a:ea typeface="CMU Sans Serif" panose="02000603000000000000" pitchFamily="2" charset="0"/>
                <a:cs typeface="CMU Sans Serif" panose="02000603000000000000" pitchFamily="2" charset="0"/>
              </a:rPr>
              <a:t>→  not supporting </a:t>
            </a:r>
            <a:r>
              <a:rPr lang="en-US" sz="2000" dirty="0">
                <a:latin typeface="CMU Sans Serif" panose="02000603000000000000" pitchFamily="2" charset="0"/>
                <a:ea typeface="CMU Sans Serif" panose="02000603000000000000" pitchFamily="2" charset="0"/>
                <a:cs typeface="CMU Sans Serif" panose="02000603000000000000" pitchFamily="2" charset="0"/>
              </a:rPr>
              <a:t>H2</a:t>
            </a:r>
          </a:p>
        </p:txBody>
      </p:sp>
      <p:pic>
        <p:nvPicPr>
          <p:cNvPr id="7" name="Content Placeholder 14" descr="A table of results with numbers&#10;&#10;AI-generated content may be incorrect.">
            <a:extLst>
              <a:ext uri="{FF2B5EF4-FFF2-40B4-BE49-F238E27FC236}">
                <a16:creationId xmlns:a16="http://schemas.microsoft.com/office/drawing/2014/main" id="{246EF6BF-AF4F-CFC5-0D10-8CC02B19D200}"/>
              </a:ext>
            </a:extLst>
          </p:cNvPr>
          <p:cNvPicPr>
            <a:picLocks noGrp="1" noChangeAspect="1"/>
          </p:cNvPicPr>
          <p:nvPr>
            <p:ph sz="half" idx="1"/>
          </p:nvPr>
        </p:nvPicPr>
        <p:blipFill>
          <a:blip r:embed="rId2"/>
          <a:stretch>
            <a:fillRect/>
          </a:stretch>
        </p:blipFill>
        <p:spPr>
          <a:xfrm>
            <a:off x="5798916" y="1711738"/>
            <a:ext cx="6224538" cy="3423494"/>
          </a:xfrm>
          <a:prstGeom prst="rect">
            <a:avLst/>
          </a:prstGeom>
        </p:spPr>
      </p:pic>
      <p:sp>
        <p:nvSpPr>
          <p:cNvPr id="14" name="Rectangle 13">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6954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E6EEF0-9F02-8CBD-2C52-3039F85BF38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D826460-86C4-36E8-3DD8-D7E2AC506A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F1F599C4-BEB9-8566-7E6A-19E0A27550F9}"/>
              </a:ext>
            </a:extLst>
          </p:cNvPr>
          <p:cNvSpPr>
            <a:spLocks noGrp="1"/>
          </p:cNvSpPr>
          <p:nvPr>
            <p:ph type="title"/>
          </p:nvPr>
        </p:nvSpPr>
        <p:spPr>
          <a:xfrm>
            <a:off x="210422" y="194941"/>
            <a:ext cx="5588494" cy="1014263"/>
          </a:xfrm>
        </p:spPr>
        <p:txBody>
          <a:bodyPr vert="horz" lIns="91440" tIns="45720" rIns="91440" bIns="45720" rtlCol="0" anchor="b">
            <a:normAutofit/>
          </a:bodyPr>
          <a:lstStyle/>
          <a:p>
            <a:r>
              <a:rPr lang="en-US" sz="4800" kern="1200" dirty="0">
                <a:solidFill>
                  <a:schemeClr val="tx1"/>
                </a:solidFill>
                <a:latin typeface="DM Serif Display" pitchFamily="2" charset="0"/>
              </a:rPr>
              <a:t>Original Study</a:t>
            </a:r>
          </a:p>
        </p:txBody>
      </p:sp>
      <p:sp>
        <p:nvSpPr>
          <p:cNvPr id="14" name="Rectangle 13">
            <a:extLst>
              <a:ext uri="{FF2B5EF4-FFF2-40B4-BE49-F238E27FC236}">
                <a16:creationId xmlns:a16="http://schemas.microsoft.com/office/drawing/2014/main" id="{270F6FAA-96AA-C41D-5A86-B1E4084648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D6F4C4A-4FE4-00A4-FEA1-8A95AB49FD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7B9FB67-FD4B-45AD-B548-7F5B10996587}"/>
              </a:ext>
            </a:extLst>
          </p:cNvPr>
          <p:cNvSpPr>
            <a:spLocks noGrp="1"/>
          </p:cNvSpPr>
          <p:nvPr>
            <p:ph sz="half" idx="1"/>
          </p:nvPr>
        </p:nvSpPr>
        <p:spPr>
          <a:xfrm>
            <a:off x="556066" y="1209204"/>
            <a:ext cx="5518355" cy="4743923"/>
          </a:xfrm>
        </p:spPr>
        <p:txBody>
          <a:bodyPr>
            <a:normAutofit/>
          </a:bodyPr>
          <a:lstStyle/>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Warmth significantly increases the level of trust in the bureaucrat and the municipality, both for both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unfavourable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and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conditions</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 High Warmth group had the largest average trust scores of 0.617 and 0.585 respectively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Hansen concludes that “</a:t>
            </a:r>
            <a:r>
              <a:rPr lang="en-US" sz="2000" i="1" dirty="0">
                <a:latin typeface="CMU Sans Serif" panose="02000603000000000000" pitchFamily="2" charset="0"/>
                <a:ea typeface="CMU Sans Serif" panose="02000603000000000000" pitchFamily="2" charset="0"/>
                <a:cs typeface="CMU Sans Serif" panose="02000603000000000000" pitchFamily="2" charset="0"/>
              </a:rPr>
              <a:t>public leaders should be concerned about whether their employees behave in a warm manner if they want to build greater trust</a:t>
            </a:r>
            <a:r>
              <a:rPr lang="en-US" sz="2000" dirty="0">
                <a:latin typeface="CMU Sans Serif" panose="02000603000000000000" pitchFamily="2" charset="0"/>
                <a:ea typeface="CMU Sans Serif" panose="02000603000000000000" pitchFamily="2" charset="0"/>
                <a:cs typeface="CMU Sans Serif" panose="02000603000000000000" pitchFamily="2" charset="0"/>
              </a:rPr>
              <a:t>”</a:t>
            </a:r>
          </a:p>
        </p:txBody>
      </p:sp>
      <p:pic>
        <p:nvPicPr>
          <p:cNvPr id="20" name="Content Placeholder 19" descr="A screenshot of a graph&#10;&#10;AI-generated content may be incorrect.">
            <a:extLst>
              <a:ext uri="{FF2B5EF4-FFF2-40B4-BE49-F238E27FC236}">
                <a16:creationId xmlns:a16="http://schemas.microsoft.com/office/drawing/2014/main" id="{93CF0A59-230F-5D82-9984-032516760616}"/>
              </a:ext>
            </a:extLst>
          </p:cNvPr>
          <p:cNvPicPr>
            <a:picLocks noChangeAspect="1"/>
          </p:cNvPicPr>
          <p:nvPr/>
        </p:nvPicPr>
        <p:blipFill>
          <a:blip r:embed="rId2"/>
          <a:stretch>
            <a:fillRect/>
          </a:stretch>
        </p:blipFill>
        <p:spPr>
          <a:xfrm>
            <a:off x="6630486" y="457200"/>
            <a:ext cx="5262181" cy="5719763"/>
          </a:xfrm>
          <a:prstGeom prst="rect">
            <a:avLst/>
          </a:prstGeom>
        </p:spPr>
      </p:pic>
      <p:pic>
        <p:nvPicPr>
          <p:cNvPr id="23" name="Picture 22" descr="A group of black text&#10;&#10;AI-generated content may be incorrect.">
            <a:extLst>
              <a:ext uri="{FF2B5EF4-FFF2-40B4-BE49-F238E27FC236}">
                <a16:creationId xmlns:a16="http://schemas.microsoft.com/office/drawing/2014/main" id="{960C9821-3D42-19EB-54B0-0DB226754925}"/>
              </a:ext>
            </a:extLst>
          </p:cNvPr>
          <p:cNvPicPr>
            <a:picLocks noChangeAspect="1"/>
          </p:cNvPicPr>
          <p:nvPr/>
        </p:nvPicPr>
        <p:blipFill>
          <a:blip r:embed="rId3"/>
          <a:stretch>
            <a:fillRect/>
          </a:stretch>
        </p:blipFill>
        <p:spPr>
          <a:xfrm>
            <a:off x="788924" y="4747763"/>
            <a:ext cx="4600354" cy="1541118"/>
          </a:xfrm>
          <a:prstGeom prst="rect">
            <a:avLst/>
          </a:prstGeom>
        </p:spPr>
      </p:pic>
    </p:spTree>
    <p:extLst>
      <p:ext uri="{BB962C8B-B14F-4D97-AF65-F5344CB8AC3E}">
        <p14:creationId xmlns:p14="http://schemas.microsoft.com/office/powerpoint/2010/main" val="19719654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E46F4-5655-65AB-DB24-B8DD31B4D7C6}"/>
              </a:ext>
            </a:extLst>
          </p:cNvPr>
          <p:cNvSpPr>
            <a:spLocks noGrp="1"/>
          </p:cNvSpPr>
          <p:nvPr>
            <p:ph type="title"/>
          </p:nvPr>
        </p:nvSpPr>
        <p:spPr>
          <a:xfrm>
            <a:off x="387620" y="127819"/>
            <a:ext cx="8333593" cy="973394"/>
          </a:xfrm>
        </p:spPr>
        <p:txBody>
          <a:bodyPr anchor="t">
            <a:normAutofit/>
          </a:bodyPr>
          <a:lstStyle/>
          <a:p>
            <a:r>
              <a:rPr lang="en-GB" sz="3600" dirty="0"/>
              <a:t>Ordered Multinomial Regression</a:t>
            </a:r>
          </a:p>
        </p:txBody>
      </p:sp>
      <p:cxnSp>
        <p:nvCxnSpPr>
          <p:cNvPr id="44" name="Straight Connector 43">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Picture 6" descr="A table with numbers and text&#10;&#10;AI-generated content may be incorrect.">
            <a:extLst>
              <a:ext uri="{FF2B5EF4-FFF2-40B4-BE49-F238E27FC236}">
                <a16:creationId xmlns:a16="http://schemas.microsoft.com/office/drawing/2014/main" id="{87F5EA32-CBF4-21AF-E884-3848946CB9C0}"/>
              </a:ext>
            </a:extLst>
          </p:cNvPr>
          <p:cNvPicPr>
            <a:picLocks noChangeAspect="1"/>
          </p:cNvPicPr>
          <p:nvPr/>
        </p:nvPicPr>
        <p:blipFill>
          <a:blip r:embed="rId2"/>
          <a:stretch>
            <a:fillRect/>
          </a:stretch>
        </p:blipFill>
        <p:spPr>
          <a:xfrm>
            <a:off x="6735514" y="5360520"/>
            <a:ext cx="5243126" cy="1258349"/>
          </a:xfrm>
          <a:prstGeom prst="rect">
            <a:avLst/>
          </a:prstGeom>
        </p:spPr>
      </p:pic>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31DCDDC-8B7D-D9D2-E7BF-8E8D495228FA}"/>
                  </a:ext>
                </a:extLst>
              </p:cNvPr>
              <p:cNvSpPr>
                <a:spLocks noGrp="1"/>
              </p:cNvSpPr>
              <p:nvPr>
                <p:ph idx="1"/>
              </p:nvPr>
            </p:nvSpPr>
            <p:spPr>
              <a:xfrm>
                <a:off x="213360" y="1050741"/>
                <a:ext cx="6610484" cy="5679440"/>
              </a:xfrm>
            </p:spPr>
            <p:txBody>
              <a:bodyPr>
                <a:normAutofit fontScale="92500"/>
              </a:bodyPr>
              <a:lstStyle/>
              <a:p>
                <a:r>
                  <a:rPr lang="en-GB" sz="1600" dirty="0">
                    <a:latin typeface="CMU Sans Serif" panose="02000603000000000000" pitchFamily="2" charset="0"/>
                    <a:ea typeface="CMU Sans Serif" panose="02000603000000000000" pitchFamily="2" charset="0"/>
                    <a:cs typeface="CMU Sans Serif" panose="02000603000000000000" pitchFamily="2" charset="0"/>
                  </a:rPr>
                  <a:t>Potential issue of OLS assuming the outcome variable is continuous and unbounded when the 0-10 scale is technically both ordinal and bounded</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Four ordered multinomial regression models were run, treating the original outcomes levels 0-10 as separate categories on an ordinal scale and the coefficients refers to whether the log-odds of being in a higher category changes in each treatment.</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The positive impact of the treatments and insignificant interaction term are consistent with the OLS models, and the coefficients are interpreted in terms of log-odds. </a:t>
                </a:r>
              </a:p>
              <a:p>
                <a:pPr lvl="1"/>
                <a:r>
                  <a:rPr lang="en-GB" sz="1600" dirty="0">
                    <a:latin typeface="CMU Sans Serif" panose="02000603000000000000" pitchFamily="2" charset="0"/>
                    <a:ea typeface="CMU Sans Serif" panose="02000603000000000000" pitchFamily="2" charset="0"/>
                    <a:cs typeface="CMU Sans Serif" panose="02000603000000000000" pitchFamily="2" charset="0"/>
                  </a:rPr>
                  <a:t>E.g. For model 1 and holding all else constant, participants in the warmth condition have on average about 2 times higher odds of choosing a higher trust category than those not in the warmth treatment (</a:t>
                </a:r>
                <a14:m>
                  <m:oMath xmlns:m="http://schemas.openxmlformats.org/officeDocument/2006/math">
                    <m:r>
                      <a:rPr lang="en-GB" sz="1600"/>
                      <m:t>𝑂𝑅</m:t>
                    </m:r>
                    <m:r>
                      <a:rPr lang="en-GB" sz="1600"/>
                      <m:t> = </m:t>
                    </m:r>
                    <m:sSup>
                      <m:sSupPr>
                        <m:ctrlPr>
                          <a:rPr lang="en-GB" sz="1600"/>
                        </m:ctrlPr>
                      </m:sSupPr>
                      <m:e>
                        <m:r>
                          <a:rPr lang="en-GB" sz="1600"/>
                          <m:t>𝑒</m:t>
                        </m:r>
                      </m:e>
                      <m:sup>
                        <m:r>
                          <a:rPr lang="en-GB" sz="1600"/>
                          <m:t>0.692</m:t>
                        </m:r>
                      </m:sup>
                    </m:sSup>
                    <m:r>
                      <a:rPr lang="en-GB" sz="1600"/>
                      <m:t> ≈ 1.99</m:t>
                    </m:r>
                  </m:oMath>
                </a14:m>
                <a:r>
                  <a:rPr lang="en-GB" sz="1600" dirty="0">
                    <a:latin typeface="CMU Sans Serif" panose="02000603000000000000" pitchFamily="2" charset="0"/>
                    <a:ea typeface="CMU Sans Serif" panose="02000603000000000000" pitchFamily="2" charset="0"/>
                    <a:cs typeface="CMU Sans Serif" panose="02000603000000000000" pitchFamily="2" charset="0"/>
                  </a:rPr>
                  <a:t>)</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Although the interpretation is slightly less intuitive than OLS, this approach does make movement across the ordinal responses clear</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To obtain more interpretable results, the predicted probabilities of categories for each treatment group was calculated and then converted into an expected trust measure. </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The results clearly show the differences between predicted average trust scores for each group that are reasonably similar to the actual experimental group mean suggesting that the ordered regression is reasonably well fit </a:t>
                </a:r>
              </a:p>
              <a:p>
                <a:pPr lvl="1"/>
                <a:r>
                  <a:rPr lang="en-GB" sz="1600" dirty="0">
                    <a:latin typeface="CMU Sans Serif" panose="02000603000000000000" pitchFamily="2" charset="0"/>
                    <a:ea typeface="CMU Sans Serif" panose="02000603000000000000" pitchFamily="2" charset="0"/>
                    <a:cs typeface="CMU Sans Serif" panose="02000603000000000000" pitchFamily="2" charset="0"/>
                  </a:rPr>
                  <a:t>E.g. For Unfavourable Low Warmth the Trust B in the simple model predicted mean trust score was 3.25 compared to the observed 3.38. </a:t>
                </a:r>
              </a:p>
            </p:txBody>
          </p:sp>
        </mc:Choice>
        <mc:Fallback>
          <p:sp>
            <p:nvSpPr>
              <p:cNvPr id="3" name="Content Placeholder 2">
                <a:extLst>
                  <a:ext uri="{FF2B5EF4-FFF2-40B4-BE49-F238E27FC236}">
                    <a16:creationId xmlns:a16="http://schemas.microsoft.com/office/drawing/2014/main" id="{531DCDDC-8B7D-D9D2-E7BF-8E8D495228FA}"/>
                  </a:ext>
                </a:extLst>
              </p:cNvPr>
              <p:cNvSpPr>
                <a:spLocks noGrp="1" noRot="1" noChangeAspect="1" noMove="1" noResize="1" noEditPoints="1" noAdjustHandles="1" noChangeArrowheads="1" noChangeShapeType="1" noTextEdit="1"/>
              </p:cNvSpPr>
              <p:nvPr>
                <p:ph idx="1"/>
              </p:nvPr>
            </p:nvSpPr>
            <p:spPr>
              <a:xfrm>
                <a:off x="213360" y="1050741"/>
                <a:ext cx="6610484" cy="5679440"/>
              </a:xfrm>
              <a:blipFill>
                <a:blip r:embed="rId3"/>
                <a:stretch>
                  <a:fillRect l="-277" t="-536" r="-1292"/>
                </a:stretch>
              </a:blipFill>
            </p:spPr>
            <p:txBody>
              <a:bodyPr/>
              <a:lstStyle/>
              <a:p>
                <a:r>
                  <a:rPr lang="en-GB">
                    <a:noFill/>
                  </a:rPr>
                  <a:t> </a:t>
                </a:r>
              </a:p>
            </p:txBody>
          </p:sp>
        </mc:Fallback>
      </mc:AlternateContent>
      <p:pic>
        <p:nvPicPr>
          <p:cNvPr id="9" name="Picture 8" descr="A table with numbers and a number of multinomials&#10;&#10;AI-generated content may be incorrect.">
            <a:extLst>
              <a:ext uri="{FF2B5EF4-FFF2-40B4-BE49-F238E27FC236}">
                <a16:creationId xmlns:a16="http://schemas.microsoft.com/office/drawing/2014/main" id="{09AB0E6F-9F81-352D-934B-9EE8AA3F9EC6}"/>
              </a:ext>
            </a:extLst>
          </p:cNvPr>
          <p:cNvPicPr>
            <a:picLocks noChangeAspect="1"/>
          </p:cNvPicPr>
          <p:nvPr/>
        </p:nvPicPr>
        <p:blipFill>
          <a:blip r:embed="rId4"/>
          <a:stretch>
            <a:fillRect/>
          </a:stretch>
        </p:blipFill>
        <p:spPr>
          <a:xfrm>
            <a:off x="7016558" y="674235"/>
            <a:ext cx="4903844" cy="1164662"/>
          </a:xfrm>
          <a:prstGeom prst="rect">
            <a:avLst/>
          </a:prstGeom>
        </p:spPr>
      </p:pic>
      <p:pic>
        <p:nvPicPr>
          <p:cNvPr id="12" name="Picture 11" descr="A graph of different colored bars&#10;&#10;AI-generated content may be incorrect.">
            <a:extLst>
              <a:ext uri="{FF2B5EF4-FFF2-40B4-BE49-F238E27FC236}">
                <a16:creationId xmlns:a16="http://schemas.microsoft.com/office/drawing/2014/main" id="{ADEB4286-E3DF-C300-B96B-CAB23C07253D}"/>
              </a:ext>
            </a:extLst>
          </p:cNvPr>
          <p:cNvPicPr>
            <a:picLocks noChangeAspect="1"/>
          </p:cNvPicPr>
          <p:nvPr/>
        </p:nvPicPr>
        <p:blipFill>
          <a:blip r:embed="rId5"/>
          <a:stretch>
            <a:fillRect/>
          </a:stretch>
        </p:blipFill>
        <p:spPr>
          <a:xfrm>
            <a:off x="7475624" y="2109932"/>
            <a:ext cx="4025496" cy="3250588"/>
          </a:xfrm>
          <a:prstGeom prst="rect">
            <a:avLst/>
          </a:prstGeom>
        </p:spPr>
      </p:pic>
    </p:spTree>
    <p:extLst>
      <p:ext uri="{BB962C8B-B14F-4D97-AF65-F5344CB8AC3E}">
        <p14:creationId xmlns:p14="http://schemas.microsoft.com/office/powerpoint/2010/main" val="2869919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3B475F8-50AE-46A0-9943-B2B63183D5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B84957-DB0F-668D-AE2D-17D041EAADAB}"/>
              </a:ext>
            </a:extLst>
          </p:cNvPr>
          <p:cNvSpPr>
            <a:spLocks noGrp="1"/>
          </p:cNvSpPr>
          <p:nvPr>
            <p:ph type="title"/>
          </p:nvPr>
        </p:nvSpPr>
        <p:spPr>
          <a:xfrm>
            <a:off x="219701" y="-638130"/>
            <a:ext cx="12329652" cy="1776484"/>
          </a:xfrm>
          <a:noFill/>
          <a:ln>
            <a:noFill/>
          </a:ln>
        </p:spPr>
        <p:txBody>
          <a:bodyPr anchor="b">
            <a:normAutofit/>
          </a:bodyPr>
          <a:lstStyle/>
          <a:p>
            <a:r>
              <a:rPr lang="en-GB" sz="5400" dirty="0">
                <a:solidFill>
                  <a:schemeClr val="accent2">
                    <a:lumMod val="75000"/>
                  </a:schemeClr>
                </a:solidFill>
              </a:rPr>
              <a:t>Ordered Beta Regression</a:t>
            </a:r>
          </a:p>
        </p:txBody>
      </p:sp>
      <p:pic>
        <p:nvPicPr>
          <p:cNvPr id="19" name="Picture 18" descr="A screenshot of a graph&#10;&#10;AI-generated content may be incorrect.">
            <a:extLst>
              <a:ext uri="{FF2B5EF4-FFF2-40B4-BE49-F238E27FC236}">
                <a16:creationId xmlns:a16="http://schemas.microsoft.com/office/drawing/2014/main" id="{29F5565D-E9F3-97B1-EA03-28E9B924445E}"/>
              </a:ext>
            </a:extLst>
          </p:cNvPr>
          <p:cNvPicPr>
            <a:picLocks noChangeAspect="1"/>
          </p:cNvPicPr>
          <p:nvPr/>
        </p:nvPicPr>
        <p:blipFill>
          <a:blip r:embed="rId2"/>
          <a:stretch>
            <a:fillRect/>
          </a:stretch>
        </p:blipFill>
        <p:spPr>
          <a:xfrm>
            <a:off x="6045977" y="5490831"/>
            <a:ext cx="5583398" cy="1228346"/>
          </a:xfrm>
          <a:prstGeom prst="rect">
            <a:avLst/>
          </a:prstGeom>
        </p:spPr>
      </p:pic>
      <p:sp>
        <p:nvSpPr>
          <p:cNvPr id="26" name="sketch line">
            <a:extLst>
              <a:ext uri="{FF2B5EF4-FFF2-40B4-BE49-F238E27FC236}">
                <a16:creationId xmlns:a16="http://schemas.microsoft.com/office/drawing/2014/main" id="{75F6FDB4-2351-48C2-A863-2364A0234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315691"/>
            <a:ext cx="4343400" cy="18288"/>
          </a:xfrm>
          <a:custGeom>
            <a:avLst/>
            <a:gdLst>
              <a:gd name="connsiteX0" fmla="*/ 0 w 4343400"/>
              <a:gd name="connsiteY0" fmla="*/ 0 h 18288"/>
              <a:gd name="connsiteX1" fmla="*/ 577052 w 4343400"/>
              <a:gd name="connsiteY1" fmla="*/ 0 h 18288"/>
              <a:gd name="connsiteX2" fmla="*/ 1067235 w 4343400"/>
              <a:gd name="connsiteY2" fmla="*/ 0 h 18288"/>
              <a:gd name="connsiteX3" fmla="*/ 1600853 w 4343400"/>
              <a:gd name="connsiteY3" fmla="*/ 0 h 18288"/>
              <a:gd name="connsiteX4" fmla="*/ 2264773 w 4343400"/>
              <a:gd name="connsiteY4" fmla="*/ 0 h 18288"/>
              <a:gd name="connsiteX5" fmla="*/ 2841825 w 4343400"/>
              <a:gd name="connsiteY5" fmla="*/ 0 h 18288"/>
              <a:gd name="connsiteX6" fmla="*/ 3375442 w 4343400"/>
              <a:gd name="connsiteY6" fmla="*/ 0 h 18288"/>
              <a:gd name="connsiteX7" fmla="*/ 4343400 w 4343400"/>
              <a:gd name="connsiteY7" fmla="*/ 0 h 18288"/>
              <a:gd name="connsiteX8" fmla="*/ 4343400 w 4343400"/>
              <a:gd name="connsiteY8" fmla="*/ 18288 h 18288"/>
              <a:gd name="connsiteX9" fmla="*/ 3722914 w 4343400"/>
              <a:gd name="connsiteY9" fmla="*/ 18288 h 18288"/>
              <a:gd name="connsiteX10" fmla="*/ 3189297 w 4343400"/>
              <a:gd name="connsiteY10" fmla="*/ 18288 h 18288"/>
              <a:gd name="connsiteX11" fmla="*/ 2481943 w 4343400"/>
              <a:gd name="connsiteY11" fmla="*/ 18288 h 18288"/>
              <a:gd name="connsiteX12" fmla="*/ 1904891 w 4343400"/>
              <a:gd name="connsiteY12" fmla="*/ 18288 h 18288"/>
              <a:gd name="connsiteX13" fmla="*/ 1414707 w 4343400"/>
              <a:gd name="connsiteY13" fmla="*/ 18288 h 18288"/>
              <a:gd name="connsiteX14" fmla="*/ 750788 w 4343400"/>
              <a:gd name="connsiteY14" fmla="*/ 18288 h 18288"/>
              <a:gd name="connsiteX15" fmla="*/ 0 w 4343400"/>
              <a:gd name="connsiteY15" fmla="*/ 18288 h 18288"/>
              <a:gd name="connsiteX16" fmla="*/ 0 w 43434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343400" h="18288" fill="none" extrusionOk="0">
                <a:moveTo>
                  <a:pt x="0" y="0"/>
                </a:moveTo>
                <a:cubicBezTo>
                  <a:pt x="233209" y="-19550"/>
                  <a:pt x="330816" y="19068"/>
                  <a:pt x="577052" y="0"/>
                </a:cubicBezTo>
                <a:cubicBezTo>
                  <a:pt x="823288" y="-19068"/>
                  <a:pt x="875077" y="10360"/>
                  <a:pt x="1067235" y="0"/>
                </a:cubicBezTo>
                <a:cubicBezTo>
                  <a:pt x="1259393" y="-10360"/>
                  <a:pt x="1410699" y="2939"/>
                  <a:pt x="1600853" y="0"/>
                </a:cubicBezTo>
                <a:cubicBezTo>
                  <a:pt x="1791007" y="-2939"/>
                  <a:pt x="2101644" y="-26225"/>
                  <a:pt x="2264773" y="0"/>
                </a:cubicBezTo>
                <a:cubicBezTo>
                  <a:pt x="2427902" y="26225"/>
                  <a:pt x="2690426" y="-27726"/>
                  <a:pt x="2841825" y="0"/>
                </a:cubicBezTo>
                <a:cubicBezTo>
                  <a:pt x="2993224" y="27726"/>
                  <a:pt x="3172320" y="-18569"/>
                  <a:pt x="3375442" y="0"/>
                </a:cubicBezTo>
                <a:cubicBezTo>
                  <a:pt x="3578564" y="18569"/>
                  <a:pt x="4003119" y="21909"/>
                  <a:pt x="4343400" y="0"/>
                </a:cubicBezTo>
                <a:cubicBezTo>
                  <a:pt x="4343798" y="7429"/>
                  <a:pt x="4343380" y="10822"/>
                  <a:pt x="4343400" y="18288"/>
                </a:cubicBezTo>
                <a:cubicBezTo>
                  <a:pt x="4109047" y="14709"/>
                  <a:pt x="3996986" y="7919"/>
                  <a:pt x="3722914" y="18288"/>
                </a:cubicBezTo>
                <a:cubicBezTo>
                  <a:pt x="3448842" y="28657"/>
                  <a:pt x="3340973" y="29252"/>
                  <a:pt x="3189297" y="18288"/>
                </a:cubicBezTo>
                <a:cubicBezTo>
                  <a:pt x="3037621" y="7324"/>
                  <a:pt x="2636891" y="-9539"/>
                  <a:pt x="2481943" y="18288"/>
                </a:cubicBezTo>
                <a:cubicBezTo>
                  <a:pt x="2326995" y="46115"/>
                  <a:pt x="2131632" y="740"/>
                  <a:pt x="1904891" y="18288"/>
                </a:cubicBezTo>
                <a:cubicBezTo>
                  <a:pt x="1678150" y="35836"/>
                  <a:pt x="1575362" y="-3381"/>
                  <a:pt x="1414707" y="18288"/>
                </a:cubicBezTo>
                <a:cubicBezTo>
                  <a:pt x="1254052" y="39957"/>
                  <a:pt x="1051093" y="-335"/>
                  <a:pt x="750788" y="18288"/>
                </a:cubicBezTo>
                <a:cubicBezTo>
                  <a:pt x="450483" y="36911"/>
                  <a:pt x="293781" y="22900"/>
                  <a:pt x="0" y="18288"/>
                </a:cubicBezTo>
                <a:cubicBezTo>
                  <a:pt x="-591" y="13205"/>
                  <a:pt x="-663" y="6329"/>
                  <a:pt x="0" y="0"/>
                </a:cubicBezTo>
                <a:close/>
              </a:path>
              <a:path w="4343400" h="18288" stroke="0" extrusionOk="0">
                <a:moveTo>
                  <a:pt x="0" y="0"/>
                </a:moveTo>
                <a:cubicBezTo>
                  <a:pt x="212719" y="-28531"/>
                  <a:pt x="340561" y="-1164"/>
                  <a:pt x="577052" y="0"/>
                </a:cubicBezTo>
                <a:cubicBezTo>
                  <a:pt x="813543" y="1164"/>
                  <a:pt x="866967" y="-9376"/>
                  <a:pt x="1067235" y="0"/>
                </a:cubicBezTo>
                <a:cubicBezTo>
                  <a:pt x="1267503" y="9376"/>
                  <a:pt x="1485778" y="-20470"/>
                  <a:pt x="1774589" y="0"/>
                </a:cubicBezTo>
                <a:cubicBezTo>
                  <a:pt x="2063400" y="20470"/>
                  <a:pt x="2090152" y="-14502"/>
                  <a:pt x="2351641" y="0"/>
                </a:cubicBezTo>
                <a:cubicBezTo>
                  <a:pt x="2613130" y="14502"/>
                  <a:pt x="2802864" y="19125"/>
                  <a:pt x="2928693" y="0"/>
                </a:cubicBezTo>
                <a:cubicBezTo>
                  <a:pt x="3054522" y="-19125"/>
                  <a:pt x="3482611" y="-2038"/>
                  <a:pt x="3636046" y="0"/>
                </a:cubicBezTo>
                <a:cubicBezTo>
                  <a:pt x="3789481" y="2038"/>
                  <a:pt x="4012363" y="973"/>
                  <a:pt x="4343400" y="0"/>
                </a:cubicBezTo>
                <a:cubicBezTo>
                  <a:pt x="4342514" y="5429"/>
                  <a:pt x="4344221" y="14046"/>
                  <a:pt x="4343400" y="18288"/>
                </a:cubicBezTo>
                <a:cubicBezTo>
                  <a:pt x="4078870" y="-6138"/>
                  <a:pt x="4015967" y="29658"/>
                  <a:pt x="3809782" y="18288"/>
                </a:cubicBezTo>
                <a:cubicBezTo>
                  <a:pt x="3603597" y="6918"/>
                  <a:pt x="3495552" y="24439"/>
                  <a:pt x="3189297" y="18288"/>
                </a:cubicBezTo>
                <a:cubicBezTo>
                  <a:pt x="2883042" y="12137"/>
                  <a:pt x="2850610" y="32583"/>
                  <a:pt x="2568811" y="18288"/>
                </a:cubicBezTo>
                <a:cubicBezTo>
                  <a:pt x="2287012" y="3993"/>
                  <a:pt x="2279820" y="23580"/>
                  <a:pt x="1991759" y="18288"/>
                </a:cubicBezTo>
                <a:cubicBezTo>
                  <a:pt x="1703698" y="12996"/>
                  <a:pt x="1616455" y="23157"/>
                  <a:pt x="1284405" y="18288"/>
                </a:cubicBezTo>
                <a:cubicBezTo>
                  <a:pt x="952355" y="13419"/>
                  <a:pt x="783530" y="16053"/>
                  <a:pt x="577052" y="18288"/>
                </a:cubicBezTo>
                <a:cubicBezTo>
                  <a:pt x="370574" y="20523"/>
                  <a:pt x="173929" y="5195"/>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315FD65-E566-BE7F-355E-A043ECB11273}"/>
              </a:ext>
            </a:extLst>
          </p:cNvPr>
          <p:cNvSpPr>
            <a:spLocks noGrp="1"/>
          </p:cNvSpPr>
          <p:nvPr>
            <p:ph idx="1"/>
          </p:nvPr>
        </p:nvSpPr>
        <p:spPr>
          <a:xfrm>
            <a:off x="383458" y="2504819"/>
            <a:ext cx="5102942" cy="4334892"/>
          </a:xfrm>
        </p:spPr>
        <p:txBody>
          <a:bodyPr>
            <a:normAutofit fontScale="85000" lnSpcReduction="10000"/>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Ordered Beta regression is an alternative type of regression explicitly designed for outcome data that has an ordinal and bounded structure.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It combines beta regression defined for any bounded continuous scale and the ordered logit that uses discrete categories.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It is beneficial as it produces intelligible estimates that respect the bounds of the outcome variable as it assumes there is an unobserved latent scale that is mapped with ordinal cut-offs for the scaled ratings.</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package ’</a:t>
            </a:r>
            <a:r>
              <a:rPr lang="en-GB" sz="2000" dirty="0" err="1">
                <a:latin typeface="CMU Sans Serif" panose="02000603000000000000" pitchFamily="2" charset="0"/>
                <a:ea typeface="CMU Sans Serif" panose="02000603000000000000" pitchFamily="2" charset="0"/>
                <a:cs typeface="CMU Sans Serif" panose="02000603000000000000" pitchFamily="2" charset="0"/>
              </a:rPr>
              <a:t>ordbetareg</a:t>
            </a:r>
            <a:r>
              <a:rPr lang="en-GB" sz="2000" dirty="0">
                <a:latin typeface="CMU Sans Serif" panose="02000603000000000000" pitchFamily="2" charset="0"/>
                <a:ea typeface="CMU Sans Serif" panose="02000603000000000000" pitchFamily="2" charset="0"/>
                <a:cs typeface="CMU Sans Serif" panose="02000603000000000000" pitchFamily="2" charset="0"/>
              </a:rPr>
              <a:t>’ estimates a Bayesian implementation (Markov chain Monte Carlo (MCMC) finding the posterior distribution</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predicted mean trust values for the groups were calculated from posterior predictions and show very similar prediction to the real means</a:t>
            </a:r>
          </a:p>
        </p:txBody>
      </p:sp>
      <p:pic>
        <p:nvPicPr>
          <p:cNvPr id="17" name="Picture 16" descr="A chart with red and blue dots&#10;&#10;AI-generated content may be incorrect.">
            <a:extLst>
              <a:ext uri="{FF2B5EF4-FFF2-40B4-BE49-F238E27FC236}">
                <a16:creationId xmlns:a16="http://schemas.microsoft.com/office/drawing/2014/main" id="{169EA93E-6403-F9EA-7CAC-0904AB5BBCF4}"/>
              </a:ext>
            </a:extLst>
          </p:cNvPr>
          <p:cNvPicPr>
            <a:picLocks noChangeAspect="1"/>
          </p:cNvPicPr>
          <p:nvPr/>
        </p:nvPicPr>
        <p:blipFill>
          <a:blip r:embed="rId3"/>
          <a:stretch>
            <a:fillRect/>
          </a:stretch>
        </p:blipFill>
        <p:spPr>
          <a:xfrm>
            <a:off x="6384527" y="1406183"/>
            <a:ext cx="4906297" cy="3765583"/>
          </a:xfrm>
          <a:prstGeom prst="rect">
            <a:avLst/>
          </a:prstGeom>
        </p:spPr>
      </p:pic>
      <p:pic>
        <p:nvPicPr>
          <p:cNvPr id="10" name="Picture 9" descr="A screenshot of a computer code&#10;&#10;AI-generated content may be incorrect.">
            <a:extLst>
              <a:ext uri="{FF2B5EF4-FFF2-40B4-BE49-F238E27FC236}">
                <a16:creationId xmlns:a16="http://schemas.microsoft.com/office/drawing/2014/main" id="{DB8EC859-66D4-39D9-3A6C-E46D0BF05AA2}"/>
              </a:ext>
            </a:extLst>
          </p:cNvPr>
          <p:cNvPicPr>
            <a:picLocks noChangeAspect="1"/>
          </p:cNvPicPr>
          <p:nvPr/>
        </p:nvPicPr>
        <p:blipFill>
          <a:blip r:embed="rId4"/>
          <a:stretch>
            <a:fillRect/>
          </a:stretch>
        </p:blipFill>
        <p:spPr>
          <a:xfrm>
            <a:off x="1173033" y="1241723"/>
            <a:ext cx="3156420" cy="970599"/>
          </a:xfrm>
          <a:prstGeom prst="rect">
            <a:avLst/>
          </a:prstGeom>
        </p:spPr>
      </p:pic>
    </p:spTree>
    <p:extLst>
      <p:ext uri="{BB962C8B-B14F-4D97-AF65-F5344CB8AC3E}">
        <p14:creationId xmlns:p14="http://schemas.microsoft.com/office/powerpoint/2010/main" val="30697158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053A63-AEC5-C806-277F-CE3E51185825}"/>
              </a:ext>
            </a:extLst>
          </p:cNvPr>
          <p:cNvSpPr>
            <a:spLocks noGrp="1"/>
          </p:cNvSpPr>
          <p:nvPr>
            <p:ph idx="1"/>
          </p:nvPr>
        </p:nvSpPr>
        <p:spPr>
          <a:xfrm>
            <a:off x="789038" y="2369573"/>
            <a:ext cx="10321413" cy="4198794"/>
          </a:xfrm>
        </p:spPr>
        <p:txBody>
          <a:bodyPr>
            <a:normAutofit lnSpcReduction="10000"/>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Marginal Effects of Warmth calculated to understand how much increasing warmth (from Low Warmth to High Warmth) changes predicted trust and whether this depends on the outcome favourability.</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values in the table represent the marginal effect of warmth on the predicted trust (0-1) scale returned by the ordered beta regressions.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These show that participants receiving the unfavourable decision (when of treatment = 0) the effect of the warmth treatment increases trust in the bureaucrat and the municipality by 0.16 and 0.15 points on average, on the 0-1 scale (for non-interaction models). This marginal effect is exactly the same when participants receive the favourable decision (of treatment = 1).</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suggests that warmth has almost exactly the same effect on trust in the favourable and unfavourable condition providing no evidence that there is a different effect depending on the type of decision.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coincides with the insignificant finding of the interaction term for the previous models</a:t>
            </a:r>
          </a:p>
        </p:txBody>
      </p:sp>
      <p:pic>
        <p:nvPicPr>
          <p:cNvPr id="14" name="Picture 13">
            <a:extLst>
              <a:ext uri="{FF2B5EF4-FFF2-40B4-BE49-F238E27FC236}">
                <a16:creationId xmlns:a16="http://schemas.microsoft.com/office/drawing/2014/main" id="{C2A06625-3CF6-BF25-BA99-E7B62F8CAA4A}"/>
              </a:ext>
            </a:extLst>
          </p:cNvPr>
          <p:cNvPicPr>
            <a:picLocks noChangeAspect="1"/>
          </p:cNvPicPr>
          <p:nvPr/>
        </p:nvPicPr>
        <p:blipFill>
          <a:blip r:embed="rId2"/>
          <a:stretch>
            <a:fillRect/>
          </a:stretch>
        </p:blipFill>
        <p:spPr>
          <a:xfrm>
            <a:off x="4301194" y="289659"/>
            <a:ext cx="7737035" cy="1165487"/>
          </a:xfrm>
          <a:prstGeom prst="rect">
            <a:avLst/>
          </a:prstGeom>
        </p:spPr>
      </p:pic>
      <p:sp>
        <p:nvSpPr>
          <p:cNvPr id="4" name="Title 1">
            <a:extLst>
              <a:ext uri="{FF2B5EF4-FFF2-40B4-BE49-F238E27FC236}">
                <a16:creationId xmlns:a16="http://schemas.microsoft.com/office/drawing/2014/main" id="{289705A0-D1C3-0B35-FECE-5358F4EDC2AA}"/>
              </a:ext>
            </a:extLst>
          </p:cNvPr>
          <p:cNvSpPr txBox="1">
            <a:spLocks/>
          </p:cNvSpPr>
          <p:nvPr/>
        </p:nvSpPr>
        <p:spPr>
          <a:xfrm>
            <a:off x="232430" y="555104"/>
            <a:ext cx="3936448" cy="988561"/>
          </a:xfrm>
          <a:prstGeom prst="rect">
            <a:avLst/>
          </a:prstGeom>
          <a:noFill/>
          <a:ln>
            <a:noFill/>
          </a:ln>
        </p:spPr>
        <p:txBody>
          <a:bodyPr vert="horz" lIns="91440" tIns="45720" rIns="91440" bIns="45720" rtlCol="0" anchor="b">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DM Serif Text" pitchFamily="2" charset="0"/>
                <a:ea typeface="+mj-ea"/>
                <a:cs typeface="+mj-cs"/>
              </a:defRPr>
            </a:lvl1pPr>
          </a:lstStyle>
          <a:p>
            <a:r>
              <a:rPr lang="en-GB" sz="4800" dirty="0">
                <a:solidFill>
                  <a:schemeClr val="accent2">
                    <a:lumMod val="75000"/>
                  </a:schemeClr>
                </a:solidFill>
              </a:rPr>
              <a:t>Marginal Effects</a:t>
            </a:r>
          </a:p>
        </p:txBody>
      </p:sp>
    </p:spTree>
    <p:extLst>
      <p:ext uri="{BB962C8B-B14F-4D97-AF65-F5344CB8AC3E}">
        <p14:creationId xmlns:p14="http://schemas.microsoft.com/office/powerpoint/2010/main" val="3608428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D9BEC-4C3C-2AD3-EC2C-463CCFF42AB0}"/>
              </a:ext>
            </a:extLst>
          </p:cNvPr>
          <p:cNvSpPr>
            <a:spLocks noGrp="1"/>
          </p:cNvSpPr>
          <p:nvPr>
            <p:ph type="title"/>
          </p:nvPr>
        </p:nvSpPr>
        <p:spPr>
          <a:xfrm>
            <a:off x="838200" y="365125"/>
            <a:ext cx="10515600" cy="1325563"/>
          </a:xfrm>
        </p:spPr>
        <p:txBody>
          <a:bodyPr>
            <a:normAutofit/>
          </a:bodyPr>
          <a:lstStyle/>
          <a:p>
            <a:r>
              <a:rPr lang="en-GB" sz="5400"/>
              <a:t>Findings + Conclusion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4D72C3E-FBFC-3524-32BA-E4ACA05AE1A9}"/>
              </a:ext>
            </a:extLst>
          </p:cNvPr>
          <p:cNvSpPr>
            <a:spLocks noGrp="1"/>
          </p:cNvSpPr>
          <p:nvPr>
            <p:ph idx="1"/>
          </p:nvPr>
        </p:nvSpPr>
        <p:spPr>
          <a:xfrm>
            <a:off x="838200" y="1929384"/>
            <a:ext cx="10515600" cy="4251960"/>
          </a:xfrm>
        </p:spPr>
        <p:txBody>
          <a:bodyPr>
            <a:normAutofit/>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The original study was replicated successfully.</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Firstly, I </a:t>
            </a:r>
            <a:r>
              <a:rPr lang="en-GB" sz="2000">
                <a:latin typeface="CMU Sans Serif" panose="02000603000000000000" pitchFamily="2" charset="0"/>
                <a:ea typeface="CMU Sans Serif" panose="02000603000000000000" pitchFamily="2" charset="0"/>
                <a:cs typeface="CMU Sans Serif" panose="02000603000000000000" pitchFamily="2" charset="0"/>
              </a:rPr>
              <a:t>assessed an </a:t>
            </a:r>
            <a:r>
              <a:rPr lang="en-GB" sz="2000" dirty="0">
                <a:latin typeface="CMU Sans Serif" panose="02000603000000000000" pitchFamily="2" charset="0"/>
                <a:ea typeface="CMU Sans Serif" panose="02000603000000000000" pitchFamily="2" charset="0"/>
                <a:cs typeface="CMU Sans Serif" panose="02000603000000000000" pitchFamily="2" charset="0"/>
              </a:rPr>
              <a:t>ordinal multinomial which was designed to reflect the ordinal nature of the data.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showed similar results to the OLS models, made similar predictions and further supported the lack of significant interaction.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Secondly, I ran an ordered beta regression as it respected both the ordinal and bounded structure of the rescaled outcome measures.</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approach reaffirmed the results from the original OLS study, finding a consistent marginal effect of warmth for both outcome conditions, but with an approach that is specifically designed for bounded ordinal nature of the outcome variable.</a:t>
            </a:r>
          </a:p>
        </p:txBody>
      </p:sp>
    </p:spTree>
    <p:extLst>
      <p:ext uri="{BB962C8B-B14F-4D97-AF65-F5344CB8AC3E}">
        <p14:creationId xmlns:p14="http://schemas.microsoft.com/office/powerpoint/2010/main" val="2591200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37940BB-FBC4-492E-BD92-3B7B914D0E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01EFBA-CA74-1058-A4B5-A0F914A8C63F}"/>
              </a:ext>
            </a:extLst>
          </p:cNvPr>
          <p:cNvSpPr>
            <a:spLocks noGrp="1"/>
          </p:cNvSpPr>
          <p:nvPr>
            <p:ph type="title"/>
          </p:nvPr>
        </p:nvSpPr>
        <p:spPr>
          <a:xfrm>
            <a:off x="1420816" y="320041"/>
            <a:ext cx="9501160" cy="3892668"/>
          </a:xfrm>
        </p:spPr>
        <p:txBody>
          <a:bodyPr vert="horz" lIns="91440" tIns="45720" rIns="91440" bIns="45720" rtlCol="0" anchor="b">
            <a:normAutofit/>
          </a:bodyPr>
          <a:lstStyle/>
          <a:p>
            <a:r>
              <a:rPr lang="en-US" sz="6600" kern="1200" dirty="0">
                <a:solidFill>
                  <a:schemeClr val="tx1"/>
                </a:solidFill>
                <a:latin typeface="DM Serif Display" pitchFamily="2" charset="0"/>
              </a:rPr>
              <a:t>Thank you for listening!</a:t>
            </a:r>
          </a:p>
        </p:txBody>
      </p:sp>
      <p:sp>
        <p:nvSpPr>
          <p:cNvPr id="3" name="Content Placeholder 2">
            <a:extLst>
              <a:ext uri="{FF2B5EF4-FFF2-40B4-BE49-F238E27FC236}">
                <a16:creationId xmlns:a16="http://schemas.microsoft.com/office/drawing/2014/main" id="{074F0039-B818-811D-873A-1A10A012818E}"/>
              </a:ext>
            </a:extLst>
          </p:cNvPr>
          <p:cNvSpPr>
            <a:spLocks noGrp="1"/>
          </p:cNvSpPr>
          <p:nvPr>
            <p:ph idx="1"/>
          </p:nvPr>
        </p:nvSpPr>
        <p:spPr>
          <a:xfrm>
            <a:off x="4769616" y="4532750"/>
            <a:ext cx="6707366" cy="1569486"/>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Any Questions? </a:t>
            </a:r>
          </a:p>
        </p:txBody>
      </p:sp>
      <p:pic>
        <p:nvPicPr>
          <p:cNvPr id="5" name="Picture 4">
            <a:extLst>
              <a:ext uri="{FF2B5EF4-FFF2-40B4-BE49-F238E27FC236}">
                <a16:creationId xmlns:a16="http://schemas.microsoft.com/office/drawing/2014/main" id="{F8FB4958-4757-EFCC-0164-C82DE60ADA2E}"/>
              </a:ext>
            </a:extLst>
          </p:cNvPr>
          <p:cNvPicPr>
            <a:picLocks noChangeAspect="1"/>
          </p:cNvPicPr>
          <p:nvPr/>
        </p:nvPicPr>
        <p:blipFill>
          <a:blip r:embed="rId2"/>
          <a:stretch>
            <a:fillRect/>
          </a:stretch>
        </p:blipFill>
        <p:spPr>
          <a:xfrm>
            <a:off x="10229561" y="5013302"/>
            <a:ext cx="1646971" cy="1605797"/>
          </a:xfrm>
          <a:prstGeom prst="rect">
            <a:avLst/>
          </a:prstGeom>
        </p:spPr>
      </p:pic>
      <p:sp>
        <p:nvSpPr>
          <p:cNvPr id="1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53987" y="4409267"/>
            <a:ext cx="4243589" cy="27432"/>
          </a:xfrm>
          <a:custGeom>
            <a:avLst/>
            <a:gdLst>
              <a:gd name="connsiteX0" fmla="*/ 0 w 4243589"/>
              <a:gd name="connsiteY0" fmla="*/ 0 h 27432"/>
              <a:gd name="connsiteX1" fmla="*/ 563791 w 4243589"/>
              <a:gd name="connsiteY1" fmla="*/ 0 h 27432"/>
              <a:gd name="connsiteX2" fmla="*/ 1042710 w 4243589"/>
              <a:gd name="connsiteY2" fmla="*/ 0 h 27432"/>
              <a:gd name="connsiteX3" fmla="*/ 1564066 w 4243589"/>
              <a:gd name="connsiteY3" fmla="*/ 0 h 27432"/>
              <a:gd name="connsiteX4" fmla="*/ 2212729 w 4243589"/>
              <a:gd name="connsiteY4" fmla="*/ 0 h 27432"/>
              <a:gd name="connsiteX5" fmla="*/ 2776520 w 4243589"/>
              <a:gd name="connsiteY5" fmla="*/ 0 h 27432"/>
              <a:gd name="connsiteX6" fmla="*/ 3297875 w 4243589"/>
              <a:gd name="connsiteY6" fmla="*/ 0 h 27432"/>
              <a:gd name="connsiteX7" fmla="*/ 4243589 w 4243589"/>
              <a:gd name="connsiteY7" fmla="*/ 0 h 27432"/>
              <a:gd name="connsiteX8" fmla="*/ 4243589 w 4243589"/>
              <a:gd name="connsiteY8" fmla="*/ 27432 h 27432"/>
              <a:gd name="connsiteX9" fmla="*/ 3637362 w 4243589"/>
              <a:gd name="connsiteY9" fmla="*/ 27432 h 27432"/>
              <a:gd name="connsiteX10" fmla="*/ 3116007 w 4243589"/>
              <a:gd name="connsiteY10" fmla="*/ 27432 h 27432"/>
              <a:gd name="connsiteX11" fmla="*/ 2424908 w 4243589"/>
              <a:gd name="connsiteY11" fmla="*/ 27432 h 27432"/>
              <a:gd name="connsiteX12" fmla="*/ 1861117 w 4243589"/>
              <a:gd name="connsiteY12" fmla="*/ 27432 h 27432"/>
              <a:gd name="connsiteX13" fmla="*/ 1382198 w 4243589"/>
              <a:gd name="connsiteY13" fmla="*/ 27432 h 27432"/>
              <a:gd name="connsiteX14" fmla="*/ 733535 w 4243589"/>
              <a:gd name="connsiteY14" fmla="*/ 27432 h 27432"/>
              <a:gd name="connsiteX15" fmla="*/ 0 w 4243589"/>
              <a:gd name="connsiteY15" fmla="*/ 27432 h 27432"/>
              <a:gd name="connsiteX16" fmla="*/ 0 w 4243589"/>
              <a:gd name="connsiteY16" fmla="*/ 0 h 27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27432"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2616" y="8304"/>
                  <a:pt x="4243111" y="21512"/>
                  <a:pt x="4243589" y="27432"/>
                </a:cubicBezTo>
                <a:cubicBezTo>
                  <a:pt x="4112949" y="6289"/>
                  <a:pt x="3928037" y="10975"/>
                  <a:pt x="3637362" y="27432"/>
                </a:cubicBezTo>
                <a:cubicBezTo>
                  <a:pt x="3346687" y="43889"/>
                  <a:pt x="3254446" y="35813"/>
                  <a:pt x="3116007" y="27432"/>
                </a:cubicBezTo>
                <a:cubicBezTo>
                  <a:pt x="2977569" y="19051"/>
                  <a:pt x="2620228" y="38017"/>
                  <a:pt x="2424908" y="27432"/>
                </a:cubicBezTo>
                <a:cubicBezTo>
                  <a:pt x="2229588" y="16847"/>
                  <a:pt x="2088287" y="5290"/>
                  <a:pt x="1861117" y="27432"/>
                </a:cubicBezTo>
                <a:cubicBezTo>
                  <a:pt x="1633947" y="49574"/>
                  <a:pt x="1502447" y="8273"/>
                  <a:pt x="1382198" y="27432"/>
                </a:cubicBezTo>
                <a:cubicBezTo>
                  <a:pt x="1261949" y="46591"/>
                  <a:pt x="1045440" y="37497"/>
                  <a:pt x="733535" y="27432"/>
                </a:cubicBezTo>
                <a:cubicBezTo>
                  <a:pt x="421630" y="17367"/>
                  <a:pt x="341257" y="-9215"/>
                  <a:pt x="0" y="27432"/>
                </a:cubicBezTo>
                <a:cubicBezTo>
                  <a:pt x="-1048" y="14992"/>
                  <a:pt x="-1120" y="7447"/>
                  <a:pt x="0" y="0"/>
                </a:cubicBezTo>
                <a:close/>
              </a:path>
              <a:path w="4243589" h="27432"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4074" y="9333"/>
                  <a:pt x="4244867" y="19699"/>
                  <a:pt x="4243589" y="27432"/>
                </a:cubicBezTo>
                <a:cubicBezTo>
                  <a:pt x="4130424" y="7904"/>
                  <a:pt x="3932803" y="51393"/>
                  <a:pt x="3722234" y="27432"/>
                </a:cubicBezTo>
                <a:cubicBezTo>
                  <a:pt x="3511665" y="3471"/>
                  <a:pt x="3269903" y="55138"/>
                  <a:pt x="3116007" y="27432"/>
                </a:cubicBezTo>
                <a:cubicBezTo>
                  <a:pt x="2962111" y="-274"/>
                  <a:pt x="2744280" y="32368"/>
                  <a:pt x="2509780" y="27432"/>
                </a:cubicBezTo>
                <a:cubicBezTo>
                  <a:pt x="2275280" y="22496"/>
                  <a:pt x="2066059" y="52808"/>
                  <a:pt x="1945989" y="27432"/>
                </a:cubicBezTo>
                <a:cubicBezTo>
                  <a:pt x="1825919" y="2056"/>
                  <a:pt x="1407329" y="21760"/>
                  <a:pt x="1254890" y="27432"/>
                </a:cubicBezTo>
                <a:cubicBezTo>
                  <a:pt x="1102451" y="33104"/>
                  <a:pt x="837950" y="40817"/>
                  <a:pt x="563791" y="27432"/>
                </a:cubicBezTo>
                <a:cubicBezTo>
                  <a:pt x="289632" y="14047"/>
                  <a:pt x="132768" y="16249"/>
                  <a:pt x="0" y="27432"/>
                </a:cubicBezTo>
                <a:cubicBezTo>
                  <a:pt x="211" y="18145"/>
                  <a:pt x="120" y="64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7450143"/>
      </p:ext>
    </p:extLst>
  </p:cSld>
  <p:clrMapOvr>
    <a:masterClrMapping/>
  </p:clrMapOvr>
</p:sld>
</file>

<file path=ppt/theme/theme1.xml><?xml version="1.0" encoding="utf-8"?>
<a:theme xmlns:a="http://schemas.openxmlformats.org/drawingml/2006/main" name="Office 2013 - 2022 Theme">
  <a:themeElements>
    <a:clrScheme name="Custom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3337</TotalTime>
  <Words>1317</Words>
  <Application>Microsoft Office PowerPoint</Application>
  <PresentationFormat>Widescreen</PresentationFormat>
  <Paragraphs>95</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CMU Sans Serif</vt:lpstr>
      <vt:lpstr>Courier New</vt:lpstr>
      <vt:lpstr>DM Serif Display</vt:lpstr>
      <vt:lpstr>DM Serif Text</vt:lpstr>
      <vt:lpstr>Office 2013 - 2022 Theme</vt:lpstr>
      <vt:lpstr>PowerPoint Presentation</vt:lpstr>
      <vt:lpstr>Can Warm Behaviour Mitigate the Negative Effect of Unfavourable Governmental Decisions  on Citizens’ Trust?</vt:lpstr>
      <vt:lpstr> Paper Theory</vt:lpstr>
      <vt:lpstr>Method</vt:lpstr>
      <vt:lpstr>Data</vt:lpstr>
      <vt:lpstr>Original Study</vt:lpstr>
      <vt:lpstr>Original Study</vt:lpstr>
      <vt:lpstr>Ordered Multinomial Regression</vt:lpstr>
      <vt:lpstr>Ordered Beta Regression</vt:lpstr>
      <vt:lpstr>PowerPoint Presentation</vt:lpstr>
      <vt:lpstr>Findings + Conclusion</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Ellen Beattie</dc:creator>
  <cp:lastModifiedBy>Ellen Beattie</cp:lastModifiedBy>
  <cp:revision>26</cp:revision>
  <dcterms:created xsi:type="dcterms:W3CDTF">2026-03-13T09:36:53Z</dcterms:created>
  <dcterms:modified xsi:type="dcterms:W3CDTF">2026-04-01T22:36:10Z</dcterms:modified>
</cp:coreProperties>
</file>