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64" r:id="rId2"/>
    <p:sldId id="256" r:id="rId3"/>
    <p:sldId id="257" r:id="rId4"/>
    <p:sldId id="258" r:id="rId5"/>
    <p:sldId id="259" r:id="rId6"/>
    <p:sldId id="270" r:id="rId7"/>
    <p:sldId id="269" r:id="rId8"/>
    <p:sldId id="266" r:id="rId9"/>
    <p:sldId id="272" r:id="rId10"/>
    <p:sldId id="261" r:id="rId11"/>
    <p:sldId id="271" r:id="rId12"/>
    <p:sldId id="263"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D0810E-ADF6-488A-8530-D41D8C9CAD4A}">
          <p14:sldIdLst>
            <p14:sldId id="264"/>
            <p14:sldId id="256"/>
            <p14:sldId id="257"/>
            <p14:sldId id="258"/>
            <p14:sldId id="259"/>
            <p14:sldId id="270"/>
            <p14:sldId id="269"/>
            <p14:sldId id="266"/>
            <p14:sldId id="272"/>
            <p14:sldId id="261"/>
            <p14:sldId id="271"/>
            <p14:sldId id="263"/>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84314" autoAdjust="0"/>
  </p:normalViewPr>
  <p:slideViewPr>
    <p:cSldViewPr snapToGrid="0">
      <p:cViewPr varScale="1">
        <p:scale>
          <a:sx n="43" d="100"/>
          <a:sy n="43" d="100"/>
        </p:scale>
        <p:origin x="122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FDF3D9-1024-42EF-BEDA-92938C5A7FA4}"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GB"/>
        </a:p>
      </dgm:t>
    </dgm:pt>
    <dgm:pt modelId="{A0727C92-95DF-47BF-A434-D4DE49308730}">
      <dgm:prSet/>
      <dgm:spPr>
        <a:solidFill>
          <a:schemeClr val="accent5">
            <a:lumMod val="40000"/>
            <a:lumOff val="60000"/>
          </a:schemeClr>
        </a:solidFill>
      </dgm:spPr>
      <dgm:t>
        <a:bodyPr/>
        <a:lstStyle/>
        <a:p>
          <a:r>
            <a:rPr lang="en-GB" dirty="0">
              <a:latin typeface="CMU Sans Serif" panose="02000603000000000000" pitchFamily="2" charset="0"/>
              <a:ea typeface="CMU Sans Serif" panose="02000603000000000000" pitchFamily="2" charset="0"/>
              <a:cs typeface="CMU Sans Serif" panose="02000603000000000000" pitchFamily="2" charset="0"/>
            </a:rPr>
            <a:t>H1: Citizens have lower trust in government the more unfavourable a decision is to the individual.</a:t>
          </a:r>
        </a:p>
      </dgm:t>
    </dgm:pt>
    <dgm:pt modelId="{A6C1E9F1-283B-4DC5-AF1D-BAAB598D2D1D}" type="parTrans" cxnId="{06479B78-B65E-437B-A58B-FDC2A4879137}">
      <dgm:prSet/>
      <dgm:spPr/>
      <dgm:t>
        <a:bodyPr/>
        <a:lstStyle/>
        <a:p>
          <a:endParaRPr lang="en-GB"/>
        </a:p>
      </dgm:t>
    </dgm:pt>
    <dgm:pt modelId="{B283B681-5A49-4AA1-BE6B-1CFFC4A55235}" type="sibTrans" cxnId="{06479B78-B65E-437B-A58B-FDC2A4879137}">
      <dgm:prSet/>
      <dgm:spPr/>
      <dgm:t>
        <a:bodyPr/>
        <a:lstStyle/>
        <a:p>
          <a:endParaRPr lang="en-GB"/>
        </a:p>
      </dgm:t>
    </dgm:pt>
    <dgm:pt modelId="{9C37F673-3743-47FA-B742-EDFA8C7B48EF}">
      <dgm:prSet/>
      <dgm:spPr>
        <a:solidFill>
          <a:schemeClr val="accent5">
            <a:lumMod val="75000"/>
          </a:schemeClr>
        </a:solidFill>
        <a:ln>
          <a:solidFill>
            <a:schemeClr val="accent5">
              <a:lumMod val="75000"/>
            </a:schemeClr>
          </a:solidFill>
        </a:ln>
      </dgm:spPr>
      <dgm:t>
        <a:bodyPr/>
        <a:lstStyle/>
        <a:p>
          <a:r>
            <a:rPr lang="en-GB" dirty="0">
              <a:latin typeface="CMU Sans Serif" panose="02000603000000000000" pitchFamily="2" charset="0"/>
              <a:ea typeface="CMU Sans Serif" panose="02000603000000000000" pitchFamily="2" charset="0"/>
              <a:cs typeface="CMU Sans Serif" panose="02000603000000000000" pitchFamily="2" charset="0"/>
            </a:rPr>
            <a:t>H2: The effect of decision favourability on citizens’ trust in government depends on whether bureaucrats show warmth in the decision-making process. </a:t>
          </a:r>
        </a:p>
        <a:p>
          <a:r>
            <a:rPr lang="en-GB" dirty="0">
              <a:latin typeface="CMU Sans Serif" panose="02000603000000000000" pitchFamily="2" charset="0"/>
              <a:ea typeface="CMU Sans Serif" panose="02000603000000000000" pitchFamily="2" charset="0"/>
              <a:cs typeface="CMU Sans Serif" panose="02000603000000000000" pitchFamily="2" charset="0"/>
            </a:rPr>
            <a:t>The negative effect of unfavourable decisions is weaker when bureaucrats show high warmth compared to showing low warmth.</a:t>
          </a:r>
        </a:p>
      </dgm:t>
    </dgm:pt>
    <dgm:pt modelId="{899E4A25-748B-4D1C-925E-ACA26EABA4B8}" type="parTrans" cxnId="{47F4023A-8E76-45CC-B519-F1FB906DA49F}">
      <dgm:prSet/>
      <dgm:spPr/>
      <dgm:t>
        <a:bodyPr/>
        <a:lstStyle/>
        <a:p>
          <a:endParaRPr lang="en-GB"/>
        </a:p>
      </dgm:t>
    </dgm:pt>
    <dgm:pt modelId="{5CE4F064-687B-499D-8206-50CF873505BB}" type="sibTrans" cxnId="{47F4023A-8E76-45CC-B519-F1FB906DA49F}">
      <dgm:prSet/>
      <dgm:spPr/>
      <dgm:t>
        <a:bodyPr/>
        <a:lstStyle/>
        <a:p>
          <a:endParaRPr lang="en-GB"/>
        </a:p>
      </dgm:t>
    </dgm:pt>
    <dgm:pt modelId="{E056A541-086C-4697-BB3B-F6F9422F9A85}" type="pres">
      <dgm:prSet presAssocID="{B5FDF3D9-1024-42EF-BEDA-92938C5A7FA4}" presName="linear" presStyleCnt="0">
        <dgm:presLayoutVars>
          <dgm:animLvl val="lvl"/>
          <dgm:resizeHandles val="exact"/>
        </dgm:presLayoutVars>
      </dgm:prSet>
      <dgm:spPr/>
    </dgm:pt>
    <dgm:pt modelId="{B95B3C59-BB79-4009-B912-BEE76D279524}" type="pres">
      <dgm:prSet presAssocID="{A0727C92-95DF-47BF-A434-D4DE49308730}" presName="parentText" presStyleLbl="node1" presStyleIdx="0" presStyleCnt="2" custScaleY="32586">
        <dgm:presLayoutVars>
          <dgm:chMax val="0"/>
          <dgm:bulletEnabled val="1"/>
        </dgm:presLayoutVars>
      </dgm:prSet>
      <dgm:spPr/>
    </dgm:pt>
    <dgm:pt modelId="{63D01583-CFFE-47CB-AAE1-FAD74F02918E}" type="pres">
      <dgm:prSet presAssocID="{B283B681-5A49-4AA1-BE6B-1CFFC4A55235}" presName="spacer" presStyleCnt="0"/>
      <dgm:spPr/>
    </dgm:pt>
    <dgm:pt modelId="{050818C9-837F-4530-B1C6-C9D697EDE9C4}" type="pres">
      <dgm:prSet presAssocID="{9C37F673-3743-47FA-B742-EDFA8C7B48EF}" presName="parentText" presStyleLbl="node1" presStyleIdx="1" presStyleCnt="2" custScaleY="95817">
        <dgm:presLayoutVars>
          <dgm:chMax val="0"/>
          <dgm:bulletEnabled val="1"/>
        </dgm:presLayoutVars>
      </dgm:prSet>
      <dgm:spPr/>
    </dgm:pt>
  </dgm:ptLst>
  <dgm:cxnLst>
    <dgm:cxn modelId="{33AECD19-C060-4A50-8A97-6D0BD19B3522}" type="presOf" srcId="{B5FDF3D9-1024-42EF-BEDA-92938C5A7FA4}" destId="{E056A541-086C-4697-BB3B-F6F9422F9A85}" srcOrd="0" destOrd="0" presId="urn:microsoft.com/office/officeart/2005/8/layout/vList2"/>
    <dgm:cxn modelId="{1256C327-8B9C-4524-AFF0-D4020506ADF0}" type="presOf" srcId="{9C37F673-3743-47FA-B742-EDFA8C7B48EF}" destId="{050818C9-837F-4530-B1C6-C9D697EDE9C4}" srcOrd="0" destOrd="0" presId="urn:microsoft.com/office/officeart/2005/8/layout/vList2"/>
    <dgm:cxn modelId="{4AD5DE2A-AAF1-49B2-8A81-51DE582E8243}" type="presOf" srcId="{A0727C92-95DF-47BF-A434-D4DE49308730}" destId="{B95B3C59-BB79-4009-B912-BEE76D279524}" srcOrd="0" destOrd="0" presId="urn:microsoft.com/office/officeart/2005/8/layout/vList2"/>
    <dgm:cxn modelId="{47F4023A-8E76-45CC-B519-F1FB906DA49F}" srcId="{B5FDF3D9-1024-42EF-BEDA-92938C5A7FA4}" destId="{9C37F673-3743-47FA-B742-EDFA8C7B48EF}" srcOrd="1" destOrd="0" parTransId="{899E4A25-748B-4D1C-925E-ACA26EABA4B8}" sibTransId="{5CE4F064-687B-499D-8206-50CF873505BB}"/>
    <dgm:cxn modelId="{06479B78-B65E-437B-A58B-FDC2A4879137}" srcId="{B5FDF3D9-1024-42EF-BEDA-92938C5A7FA4}" destId="{A0727C92-95DF-47BF-A434-D4DE49308730}" srcOrd="0" destOrd="0" parTransId="{A6C1E9F1-283B-4DC5-AF1D-BAAB598D2D1D}" sibTransId="{B283B681-5A49-4AA1-BE6B-1CFFC4A55235}"/>
    <dgm:cxn modelId="{BB45C979-A529-4C56-8C80-2C2064633BC2}" type="presParOf" srcId="{E056A541-086C-4697-BB3B-F6F9422F9A85}" destId="{B95B3C59-BB79-4009-B912-BEE76D279524}" srcOrd="0" destOrd="0" presId="urn:microsoft.com/office/officeart/2005/8/layout/vList2"/>
    <dgm:cxn modelId="{C2C1F767-2CE5-46F8-85C7-8D8AE276DB2C}" type="presParOf" srcId="{E056A541-086C-4697-BB3B-F6F9422F9A85}" destId="{63D01583-CFFE-47CB-AAE1-FAD74F02918E}" srcOrd="1" destOrd="0" presId="urn:microsoft.com/office/officeart/2005/8/layout/vList2"/>
    <dgm:cxn modelId="{C7C248A2-3E6E-453B-9135-91479A118BC5}" type="presParOf" srcId="{E056A541-086C-4697-BB3B-F6F9422F9A85}" destId="{050818C9-837F-4530-B1C6-C9D697EDE9C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B3C59-BB79-4009-B912-BEE76D279524}">
      <dsp:nvSpPr>
        <dsp:cNvPr id="0" name=""/>
        <dsp:cNvSpPr/>
      </dsp:nvSpPr>
      <dsp:spPr>
        <a:xfrm>
          <a:off x="0" y="28331"/>
          <a:ext cx="5388077" cy="1000797"/>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latin typeface="CMU Sans Serif" panose="02000603000000000000" pitchFamily="2" charset="0"/>
              <a:ea typeface="CMU Sans Serif" panose="02000603000000000000" pitchFamily="2" charset="0"/>
              <a:cs typeface="CMU Sans Serif" panose="02000603000000000000" pitchFamily="2" charset="0"/>
            </a:rPr>
            <a:t>H1: Citizens have lower trust in government the more unfavourable a decision is to the individual.</a:t>
          </a:r>
        </a:p>
      </dsp:txBody>
      <dsp:txXfrm>
        <a:off x="48855" y="77186"/>
        <a:ext cx="5290367" cy="903087"/>
      </dsp:txXfrm>
    </dsp:sp>
    <dsp:sp modelId="{050818C9-837F-4530-B1C6-C9D697EDE9C4}">
      <dsp:nvSpPr>
        <dsp:cNvPr id="0" name=""/>
        <dsp:cNvSpPr/>
      </dsp:nvSpPr>
      <dsp:spPr>
        <a:xfrm>
          <a:off x="0" y="1089609"/>
          <a:ext cx="5388077" cy="2942779"/>
        </a:xfrm>
        <a:prstGeom prst="roundRect">
          <a:avLst/>
        </a:prstGeom>
        <a:solidFill>
          <a:schemeClr val="accent5">
            <a:lumMod val="7500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latin typeface="CMU Sans Serif" panose="02000603000000000000" pitchFamily="2" charset="0"/>
              <a:ea typeface="CMU Sans Serif" panose="02000603000000000000" pitchFamily="2" charset="0"/>
              <a:cs typeface="CMU Sans Serif" panose="02000603000000000000" pitchFamily="2" charset="0"/>
            </a:rPr>
            <a:t>H2: The effect of decision favourability on citizens’ trust in government depends on whether bureaucrats show warmth in the decision-making process. </a:t>
          </a:r>
        </a:p>
        <a:p>
          <a:pPr marL="0" lvl="0" indent="0" algn="l" defTabSz="844550">
            <a:lnSpc>
              <a:spcPct val="90000"/>
            </a:lnSpc>
            <a:spcBef>
              <a:spcPct val="0"/>
            </a:spcBef>
            <a:spcAft>
              <a:spcPct val="35000"/>
            </a:spcAft>
            <a:buNone/>
          </a:pPr>
          <a:r>
            <a:rPr lang="en-GB" sz="1900" kern="1200" dirty="0">
              <a:latin typeface="CMU Sans Serif" panose="02000603000000000000" pitchFamily="2" charset="0"/>
              <a:ea typeface="CMU Sans Serif" panose="02000603000000000000" pitchFamily="2" charset="0"/>
              <a:cs typeface="CMU Sans Serif" panose="02000603000000000000" pitchFamily="2" charset="0"/>
            </a:rPr>
            <a:t>The negative effect of unfavourable decisions is weaker when bureaucrats show high warmth compared to showing low warmth.</a:t>
          </a:r>
        </a:p>
      </dsp:txBody>
      <dsp:txXfrm>
        <a:off x="143655" y="1233264"/>
        <a:ext cx="5100767" cy="26554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421F-398B-4DAA-8CA6-E5168223F3C6}" type="datetimeFigureOut">
              <a:rPr lang="en-GB" smtClean="0"/>
              <a:t>07/04/2026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E1FE7-B59A-46E6-94E2-3F84D8B22038}" type="slidenum">
              <a:rPr lang="en-GB" smtClean="0"/>
              <a:t>‹#›</a:t>
            </a:fld>
            <a:endParaRPr lang="en-GB"/>
          </a:p>
        </p:txBody>
      </p:sp>
    </p:spTree>
    <p:extLst>
      <p:ext uri="{BB962C8B-B14F-4D97-AF65-F5344CB8AC3E}">
        <p14:creationId xmlns:p14="http://schemas.microsoft.com/office/powerpoint/2010/main" val="120121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 name="Google Shape;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buFont typeface="Courier New" panose="02070309020205020404" pitchFamily="49" charset="0"/>
              <a:buChar char="o"/>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lvl="1" algn="just"/>
            <a:r>
              <a:rPr lang="en-GB" sz="1200" i="1" dirty="0">
                <a:latin typeface="CMU Sans Serif" panose="02000603000000000000" pitchFamily="2" charset="0"/>
                <a:ea typeface="CMU Sans Serif" panose="02000603000000000000" pitchFamily="2" charset="0"/>
                <a:cs typeface="CMU Sans Serif" panose="02000603000000000000" pitchFamily="2" charset="0"/>
              </a:rPr>
              <a:t>i.e. “the caseworker answered all your questions in a [warm and friendly / cold and unfriendly]  manner … “</a:t>
            </a:r>
          </a:p>
          <a:p>
            <a:pPr lvl="1" algn="just"/>
            <a:r>
              <a:rPr lang="en-GB" sz="1200" i="1" dirty="0">
                <a:latin typeface="CMU Sans Serif" panose="02000603000000000000" pitchFamily="2" charset="0"/>
                <a:ea typeface="CMU Sans Serif" panose="02000603000000000000" pitchFamily="2" charset="0"/>
                <a:cs typeface="CMU Sans Serif" panose="02000603000000000000" pitchFamily="2" charset="0"/>
              </a:rPr>
              <a:t>“based on the caseworker’s recommendation, the municipality has decided to [reject/approve] the application to enter a nursing home.</a:t>
            </a:r>
          </a:p>
          <a:p>
            <a:pPr marL="285750" indent="-285750" algn="just">
              <a:buFont typeface="Courier New" panose="02070309020205020404" pitchFamily="49" charset="0"/>
              <a:buChar char="o"/>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endParaRPr lang="en-GB" dirty="0"/>
          </a:p>
        </p:txBody>
      </p:sp>
      <p:sp>
        <p:nvSpPr>
          <p:cNvPr id="4" name="Slide Number Placeholder 3"/>
          <p:cNvSpPr>
            <a:spLocks noGrp="1"/>
          </p:cNvSpPr>
          <p:nvPr>
            <p:ph type="sldNum" sz="quarter" idx="5"/>
          </p:nvPr>
        </p:nvSpPr>
        <p:spPr/>
        <p:txBody>
          <a:bodyPr/>
          <a:lstStyle/>
          <a:p>
            <a:fld id="{4A9E1FE7-B59A-46E6-94E2-3F84D8B22038}" type="slidenum">
              <a:rPr lang="en-GB" smtClean="0"/>
              <a:t>4</a:t>
            </a:fld>
            <a:endParaRPr lang="en-GB"/>
          </a:p>
        </p:txBody>
      </p:sp>
    </p:spTree>
    <p:extLst>
      <p:ext uri="{BB962C8B-B14F-4D97-AF65-F5344CB8AC3E}">
        <p14:creationId xmlns:p14="http://schemas.microsoft.com/office/powerpoint/2010/main" val="2727578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000" dirty="0">
                <a:latin typeface="CMU Sans Serif" panose="02000603000000000000" pitchFamily="2" charset="0"/>
                <a:ea typeface="CMU Sans Serif" panose="02000603000000000000" pitchFamily="2" charset="0"/>
                <a:cs typeface="CMU Sans Serif" panose="02000603000000000000" pitchFamily="2" charset="0"/>
              </a:rPr>
              <a:t>The two experimental treatments were coded into dummy variables: ’</a:t>
            </a:r>
          </a:p>
          <a:p>
            <a:pPr lvl="1"/>
            <a:r>
              <a:rPr lang="en-GB" sz="2000" dirty="0">
                <a:latin typeface="CMU Sans Serif" panose="02000603000000000000" pitchFamily="2" charset="0"/>
                <a:ea typeface="CMU Sans Serif" panose="02000603000000000000" pitchFamily="2" charset="0"/>
                <a:cs typeface="CMU Sans Serif" panose="02000603000000000000" pitchFamily="2" charset="0"/>
              </a:rPr>
              <a:t>of treatment  → 0 = Unfavourable, 1 = Favourable</a:t>
            </a:r>
          </a:p>
          <a:p>
            <a:pPr lvl="1"/>
            <a:r>
              <a:rPr lang="en-GB" sz="2000" dirty="0">
                <a:latin typeface="CMU Sans Serif" panose="02000603000000000000" pitchFamily="2" charset="0"/>
                <a:ea typeface="CMU Sans Serif" panose="02000603000000000000" pitchFamily="2" charset="0"/>
                <a:cs typeface="CMU Sans Serif" panose="02000603000000000000" pitchFamily="2" charset="0"/>
              </a:rPr>
              <a:t> warmth treatment → 0 = Low Warmth, 1 = High Warmth</a:t>
            </a:r>
          </a:p>
          <a:p>
            <a:r>
              <a:rPr lang="en-GB" sz="2000" dirty="0">
                <a:latin typeface="CMU Sans Serif" panose="02000603000000000000" pitchFamily="2" charset="0"/>
                <a:ea typeface="CMU Sans Serif" panose="02000603000000000000" pitchFamily="2" charset="0"/>
                <a:cs typeface="CMU Sans Serif" panose="02000603000000000000" pitchFamily="2" charset="0"/>
              </a:rPr>
              <a:t>Outcome variables ’trust b’ and ’trust m’ were rescaled from their original ‘0-10’ scale to a ‘0-1’ scale</a:t>
            </a:r>
          </a:p>
          <a:p>
            <a:pPr lvl="1"/>
            <a:r>
              <a:rPr lang="en-GB" sz="2000" dirty="0">
                <a:latin typeface="CMU Sans Serif" panose="02000603000000000000" pitchFamily="2" charset="0"/>
                <a:ea typeface="CMU Sans Serif" panose="02000603000000000000" pitchFamily="2" charset="0"/>
                <a:cs typeface="CMU Sans Serif" panose="02000603000000000000" pitchFamily="2" charset="0"/>
              </a:rPr>
              <a:t>E.g. 5 → 0.5</a:t>
            </a:r>
          </a:p>
          <a:p>
            <a:r>
              <a:rPr lang="en-GB" sz="2000" dirty="0">
                <a:latin typeface="CMU Sans Serif" panose="02000603000000000000" pitchFamily="2" charset="0"/>
                <a:ea typeface="CMU Sans Serif" panose="02000603000000000000" pitchFamily="2" charset="0"/>
                <a:cs typeface="CMU Sans Serif" panose="02000603000000000000" pitchFamily="2" charset="0"/>
              </a:rPr>
              <a:t>Other demographic variables and manipulation validity test measures were included</a:t>
            </a:r>
          </a:p>
          <a:p>
            <a:endParaRPr lang="en-GB" dirty="0"/>
          </a:p>
        </p:txBody>
      </p:sp>
      <p:sp>
        <p:nvSpPr>
          <p:cNvPr id="4" name="Slide Number Placeholder 3"/>
          <p:cNvSpPr>
            <a:spLocks noGrp="1"/>
          </p:cNvSpPr>
          <p:nvPr>
            <p:ph type="sldNum" sz="quarter" idx="5"/>
          </p:nvPr>
        </p:nvSpPr>
        <p:spPr/>
        <p:txBody>
          <a:bodyPr/>
          <a:lstStyle/>
          <a:p>
            <a:fld id="{4A9E1FE7-B59A-46E6-94E2-3F84D8B22038}" type="slidenum">
              <a:rPr lang="en-GB" smtClean="0"/>
              <a:t>5</a:t>
            </a:fld>
            <a:endParaRPr lang="en-GB"/>
          </a:p>
        </p:txBody>
      </p:sp>
    </p:spTree>
    <p:extLst>
      <p:ext uri="{BB962C8B-B14F-4D97-AF65-F5344CB8AC3E}">
        <p14:creationId xmlns:p14="http://schemas.microsoft.com/office/powerpoint/2010/main" val="627876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Experimental groups run L-R 4312.  The  other </a:t>
            </a:r>
            <a:r>
              <a:rPr lang="en-GB" dirty="0" err="1"/>
              <a:t>vairiables</a:t>
            </a:r>
            <a:r>
              <a:rPr lang="en-GB" dirty="0"/>
              <a:t> were used to validate that </a:t>
            </a:r>
            <a:r>
              <a:rPr lang="en-GB" dirty="0" err="1"/>
              <a:t>respondants</a:t>
            </a:r>
            <a:r>
              <a:rPr lang="en-GB" dirty="0"/>
              <a:t> accurately perceived the effect of warmth and outcome</a:t>
            </a:r>
          </a:p>
        </p:txBody>
      </p:sp>
      <p:sp>
        <p:nvSpPr>
          <p:cNvPr id="4" name="Slide Number Placeholder 3"/>
          <p:cNvSpPr>
            <a:spLocks noGrp="1"/>
          </p:cNvSpPr>
          <p:nvPr>
            <p:ph type="sldNum" sz="quarter" idx="5"/>
          </p:nvPr>
        </p:nvSpPr>
        <p:spPr/>
        <p:txBody>
          <a:bodyPr/>
          <a:lstStyle/>
          <a:p>
            <a:fld id="{4A9E1FE7-B59A-46E6-94E2-3F84D8B22038}" type="slidenum">
              <a:rPr lang="en-GB" smtClean="0"/>
              <a:t>6</a:t>
            </a:fld>
            <a:endParaRPr lang="en-GB"/>
          </a:p>
        </p:txBody>
      </p:sp>
    </p:spTree>
    <p:extLst>
      <p:ext uri="{BB962C8B-B14F-4D97-AF65-F5344CB8AC3E}">
        <p14:creationId xmlns:p14="http://schemas.microsoft.com/office/powerpoint/2010/main" val="2943245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9E1FE7-B59A-46E6-94E2-3F84D8B22038}" type="slidenum">
              <a:rPr lang="en-GB" smtClean="0"/>
              <a:t>7</a:t>
            </a:fld>
            <a:endParaRPr lang="en-GB"/>
          </a:p>
        </p:txBody>
      </p:sp>
    </p:spTree>
    <p:extLst>
      <p:ext uri="{BB962C8B-B14F-4D97-AF65-F5344CB8AC3E}">
        <p14:creationId xmlns:p14="http://schemas.microsoft.com/office/powerpoint/2010/main" val="1971084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Although the interpretation is slightly less intuitive than OLS, this approach does make movement across the ordinal responses clear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To obtain more interpretable results, the predicted probabilities of categories for each treatment group were calculated and then converted into an expected trust measure.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E.g. For model 1 and holding all else constant, participants in the warmth condition have on average about 2 times higher odds of choosing a higher trust category than those not in the warmth treatment (</a:t>
                </a:r>
                <a14:m>
                  <m:oMath xmlns:m="http://schemas.openxmlformats.org/officeDocument/2006/math">
                    <m:r>
                      <a:rPr lang="en-GB" sz="1200">
                        <a:latin typeface="Cambria Math" panose="02040503050406030204" pitchFamily="18" charset="0"/>
                      </a:rPr>
                      <m:t>𝑂𝑅</m:t>
                    </m:r>
                    <m:r>
                      <a:rPr lang="en-GB" sz="1200">
                        <a:latin typeface="Cambria Math" panose="02040503050406030204" pitchFamily="18" charset="0"/>
                      </a:rPr>
                      <m:t> = </m:t>
                    </m:r>
                    <m:sSup>
                      <m:sSupPr>
                        <m:ctrlPr>
                          <a:rPr lang="en-GB" sz="1200" i="1">
                            <a:latin typeface="Cambria Math" panose="02040503050406030204" pitchFamily="18" charset="0"/>
                          </a:rPr>
                        </m:ctrlPr>
                      </m:sSupPr>
                      <m:e>
                        <m:r>
                          <a:rPr lang="en-GB" sz="1200">
                            <a:latin typeface="Cambria Math" panose="02040503050406030204" pitchFamily="18" charset="0"/>
                          </a:rPr>
                          <m:t>𝑒</m:t>
                        </m:r>
                      </m:e>
                      <m:sup>
                        <m:r>
                          <a:rPr lang="en-GB" sz="1200">
                            <a:latin typeface="Cambria Math" panose="02040503050406030204" pitchFamily="18" charset="0"/>
                          </a:rPr>
                          <m:t>0.692</m:t>
                        </m:r>
                      </m:sup>
                    </m:sSup>
                    <m:r>
                      <a:rPr lang="en-GB" sz="1200">
                        <a:latin typeface="Cambria Math" panose="02040503050406030204" pitchFamily="18" charset="0"/>
                      </a:rPr>
                      <m:t> ≈ 1.99</m:t>
                    </m:r>
                  </m:oMath>
                </a14:m>
                <a:r>
                  <a:rPr lang="en-GB" sz="1200" dirty="0">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E.g. For Unfavourable Low Warmth the Trust B in the simple model predicted mean trust score was 3.25 compared to the observed 3.38.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r>
                  <a:rPr lang="en-GB"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Although the interpretation is slightly less intuitive than OLS, this approach does make movement across the ordinal responses clear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To obtain more interpretable results, the predicted probabilities of categories for each treatment group were calculated and then converted into an expected trust measure.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E.g. For model 1 and holding all else constant, participants in the warmth condition have on average about 2 times higher odds of choosing a higher trust category than those not in the warmth treatment (</a:t>
                </a:r>
                <a:r>
                  <a:rPr lang="en-GB" sz="1200" i="0">
                    <a:latin typeface="Cambria Math" panose="02040503050406030204" pitchFamily="18" charset="0"/>
                  </a:rPr>
                  <a:t>𝑂𝑅 = 𝑒^0.692  ≈ 1.99</a:t>
                </a:r>
                <a:r>
                  <a:rPr lang="en-GB" sz="1200" dirty="0">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E.g. For Unfavourable Low Warmth the Trust B in the simple model predicted mean trust score was 3.25 compared to the observed 3.38.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MU Sans Serif" panose="02000603000000000000" pitchFamily="2" charset="0"/>
                  <a:ea typeface="CMU Sans Serif" panose="02000603000000000000" pitchFamily="2" charset="0"/>
                  <a:cs typeface="CMU Sans Serif" panose="02000603000000000000" pitchFamily="2" charset="0"/>
                </a:endParaRPr>
              </a:p>
              <a:p>
                <a:r>
                  <a:rPr lang="en-GB" dirty="0"/>
                  <a:t> </a:t>
                </a:r>
              </a:p>
            </p:txBody>
          </p:sp>
        </mc:Fallback>
      </mc:AlternateContent>
      <p:sp>
        <p:nvSpPr>
          <p:cNvPr id="4" name="Slide Number Placeholder 3"/>
          <p:cNvSpPr>
            <a:spLocks noGrp="1"/>
          </p:cNvSpPr>
          <p:nvPr>
            <p:ph type="sldNum" sz="quarter" idx="5"/>
          </p:nvPr>
        </p:nvSpPr>
        <p:spPr/>
        <p:txBody>
          <a:bodyPr/>
          <a:lstStyle/>
          <a:p>
            <a:fld id="{4A9E1FE7-B59A-46E6-94E2-3F84D8B22038}" type="slidenum">
              <a:rPr lang="en-GB" smtClean="0"/>
              <a:t>8</a:t>
            </a:fld>
            <a:endParaRPr lang="en-GB"/>
          </a:p>
        </p:txBody>
      </p:sp>
    </p:spTree>
    <p:extLst>
      <p:ext uri="{BB962C8B-B14F-4D97-AF65-F5344CB8AC3E}">
        <p14:creationId xmlns:p14="http://schemas.microsoft.com/office/powerpoint/2010/main" val="2443299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MU Sans Serif" panose="02000603000000000000" pitchFamily="2" charset="0"/>
                <a:ea typeface="CMU Sans Serif" panose="02000603000000000000" pitchFamily="2" charset="0"/>
                <a:cs typeface="CMU Sans Serif" panose="02000603000000000000" pitchFamily="2" charset="0"/>
              </a:rPr>
              <a:t>as it assumes there is an unobserved latent scale that is mapped with ordinal cut-offs for the scaled ratings.</a:t>
            </a:r>
          </a:p>
          <a:p>
            <a:endParaRPr lang="en-GB" dirty="0"/>
          </a:p>
        </p:txBody>
      </p:sp>
      <p:sp>
        <p:nvSpPr>
          <p:cNvPr id="4" name="Slide Number Placeholder 3"/>
          <p:cNvSpPr>
            <a:spLocks noGrp="1"/>
          </p:cNvSpPr>
          <p:nvPr>
            <p:ph type="sldNum" sz="quarter" idx="5"/>
          </p:nvPr>
        </p:nvSpPr>
        <p:spPr/>
        <p:txBody>
          <a:bodyPr/>
          <a:lstStyle/>
          <a:p>
            <a:fld id="{4A9E1FE7-B59A-46E6-94E2-3F84D8B22038}" type="slidenum">
              <a:rPr lang="en-GB" smtClean="0"/>
              <a:t>10</a:t>
            </a:fld>
            <a:endParaRPr lang="en-GB"/>
          </a:p>
        </p:txBody>
      </p:sp>
    </p:spTree>
    <p:extLst>
      <p:ext uri="{BB962C8B-B14F-4D97-AF65-F5344CB8AC3E}">
        <p14:creationId xmlns:p14="http://schemas.microsoft.com/office/powerpoint/2010/main" val="3378670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Created predictions for 4 treatment conditions using posterior </a:t>
            </a:r>
          </a:p>
        </p:txBody>
      </p:sp>
      <p:sp>
        <p:nvSpPr>
          <p:cNvPr id="4" name="Slide Number Placeholder 3"/>
          <p:cNvSpPr>
            <a:spLocks noGrp="1"/>
          </p:cNvSpPr>
          <p:nvPr>
            <p:ph type="sldNum" sz="quarter" idx="5"/>
          </p:nvPr>
        </p:nvSpPr>
        <p:spPr/>
        <p:txBody>
          <a:bodyPr/>
          <a:lstStyle/>
          <a:p>
            <a:fld id="{4A9E1FE7-B59A-46E6-94E2-3F84D8B22038}" type="slidenum">
              <a:rPr lang="en-GB" smtClean="0"/>
              <a:t>11</a:t>
            </a:fld>
            <a:endParaRPr lang="en-GB"/>
          </a:p>
        </p:txBody>
      </p:sp>
    </p:spTree>
    <p:extLst>
      <p:ext uri="{BB962C8B-B14F-4D97-AF65-F5344CB8AC3E}">
        <p14:creationId xmlns:p14="http://schemas.microsoft.com/office/powerpoint/2010/main" val="3615134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F70DEA-7865-4DF2-B4A9-B9F96E74F439}" type="datetimeFigureOut">
              <a:rPr lang="en-GB" smtClean="0"/>
              <a:t>07/04/2026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3877407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F70DEA-7865-4DF2-B4A9-B9F96E74F439}" type="datetimeFigureOut">
              <a:rPr lang="en-GB" smtClean="0"/>
              <a:t>07/04/2026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1390037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F70DEA-7865-4DF2-B4A9-B9F96E74F439}" type="datetimeFigureOut">
              <a:rPr lang="en-GB" smtClean="0"/>
              <a:t>07/04/2026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831427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F70DEA-7865-4DF2-B4A9-B9F96E74F439}" type="datetimeFigureOut">
              <a:rPr lang="en-GB" smtClean="0"/>
              <a:t>07/04/2026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2717405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F70DEA-7865-4DF2-B4A9-B9F96E74F439}" type="datetimeFigureOut">
              <a:rPr lang="en-GB" smtClean="0"/>
              <a:t>07/04/2026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222521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F70DEA-7865-4DF2-B4A9-B9F96E74F439}" type="datetimeFigureOut">
              <a:rPr lang="en-GB" smtClean="0"/>
              <a:t>07/04/2026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2497969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F70DEA-7865-4DF2-B4A9-B9F96E74F439}" type="datetimeFigureOut">
              <a:rPr lang="en-GB" smtClean="0"/>
              <a:t>07/04/2026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104110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F70DEA-7865-4DF2-B4A9-B9F96E74F439}" type="datetimeFigureOut">
              <a:rPr lang="en-GB" smtClean="0"/>
              <a:t>07/04/2026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2998437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F70DEA-7865-4DF2-B4A9-B9F96E74F439}" type="datetimeFigureOut">
              <a:rPr lang="en-GB" smtClean="0"/>
              <a:t>07/04/2026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2302368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F70DEA-7865-4DF2-B4A9-B9F96E74F439}" type="datetimeFigureOut">
              <a:rPr lang="en-GB" smtClean="0"/>
              <a:t>07/04/2026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327302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F70DEA-7865-4DF2-B4A9-B9F96E74F439}" type="datetimeFigureOut">
              <a:rPr lang="en-GB" smtClean="0"/>
              <a:t>07/04/2026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B61B762-26DC-4006-8C77-85F1C823C6BD}" type="slidenum">
              <a:rPr lang="en-GB" smtClean="0"/>
              <a:t>‹#›</a:t>
            </a:fld>
            <a:endParaRPr lang="en-GB"/>
          </a:p>
        </p:txBody>
      </p:sp>
    </p:spTree>
    <p:extLst>
      <p:ext uri="{BB962C8B-B14F-4D97-AF65-F5344CB8AC3E}">
        <p14:creationId xmlns:p14="http://schemas.microsoft.com/office/powerpoint/2010/main" val="1730978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M Serif Text" panose="020F0502020204030204" pitchFamily="2" charset="0"/>
              </a:defRPr>
            </a:lvl1pPr>
          </a:lstStyle>
          <a:p>
            <a:fld id="{E7F70DEA-7865-4DF2-B4A9-B9F96E74F439}" type="datetimeFigureOut">
              <a:rPr lang="en-GB" smtClean="0"/>
              <a:pPr/>
              <a:t>07/04/2026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M Serif Text" panose="020F0502020204030204" pitchFamily="2" charset="0"/>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M Serif Text" panose="020F0502020204030204" pitchFamily="2" charset="0"/>
              </a:defRPr>
            </a:lvl1pPr>
          </a:lstStyle>
          <a:p>
            <a:fld id="{7B61B762-26DC-4006-8C77-85F1C823C6BD}" type="slidenum">
              <a:rPr lang="en-GB" smtClean="0"/>
              <a:pPr/>
              <a:t>‹#›</a:t>
            </a:fld>
            <a:endParaRPr lang="en-GB" dirty="0"/>
          </a:p>
        </p:txBody>
      </p:sp>
    </p:spTree>
    <p:extLst>
      <p:ext uri="{BB962C8B-B14F-4D97-AF65-F5344CB8AC3E}">
        <p14:creationId xmlns:p14="http://schemas.microsoft.com/office/powerpoint/2010/main" val="13825265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DM Serif Text"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M Serif Text" panose="020F05020202040302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M Serif Text" panose="020F05020202040302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M Serif Text" panose="020F05020202040302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M Serif Text" panose="020F05020202040302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M Serif Text" panose="020F05020202040302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eattie1@tcd.i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cxnSp>
        <p:nvCxnSpPr>
          <p:cNvPr id="32" name="Google Shape;32;p7"/>
          <p:cNvCxnSpPr/>
          <p:nvPr/>
        </p:nvCxnSpPr>
        <p:spPr>
          <a:xfrm>
            <a:off x="685800" y="6172200"/>
            <a:ext cx="10820400" cy="0"/>
          </a:xfrm>
          <a:prstGeom prst="straightConnector1">
            <a:avLst/>
          </a:prstGeom>
          <a:noFill/>
          <a:ln w="38100" cap="flat" cmpd="sng">
            <a:solidFill>
              <a:srgbClr val="C03221"/>
            </a:solidFill>
            <a:prstDash val="solid"/>
            <a:round/>
            <a:headEnd type="none" w="sm" len="sm"/>
            <a:tailEnd type="none" w="sm" len="sm"/>
          </a:ln>
        </p:spPr>
      </p:cxnSp>
      <p:sp>
        <p:nvSpPr>
          <p:cNvPr id="33" name="Google Shape;33;p7"/>
          <p:cNvSpPr txBox="1"/>
          <p:nvPr/>
        </p:nvSpPr>
        <p:spPr>
          <a:xfrm>
            <a:off x="685800" y="2587216"/>
            <a:ext cx="5623600" cy="1444242"/>
          </a:xfrm>
          <a:prstGeom prst="rect">
            <a:avLst/>
          </a:prstGeom>
          <a:noFill/>
          <a:ln>
            <a:noFill/>
          </a:ln>
        </p:spPr>
        <p:txBody>
          <a:bodyPr spcFirstLastPara="1" wrap="square" lIns="0" tIns="0" rIns="0" bIns="0" anchor="t" anchorCtr="0">
            <a:spAutoFit/>
          </a:bodyPr>
          <a:lstStyle/>
          <a:p>
            <a:pPr>
              <a:lnSpc>
                <a:spcPct val="80000"/>
              </a:lnSpc>
            </a:pPr>
            <a:r>
              <a:rPr lang="en-GB" sz="5866" dirty="0">
                <a:solidFill>
                  <a:srgbClr val="C03221"/>
                </a:solidFill>
                <a:latin typeface="DM Serif Display"/>
                <a:ea typeface="DM Serif Display"/>
                <a:cs typeface="DM Serif Display"/>
                <a:sym typeface="DM Serif Display"/>
              </a:rPr>
              <a:t>Replication Project</a:t>
            </a:r>
            <a:endParaRPr sz="1200" dirty="0">
              <a:latin typeface="DM Serif Text" panose="020F0502020204030204" pitchFamily="2" charset="0"/>
            </a:endParaRPr>
          </a:p>
        </p:txBody>
      </p:sp>
      <p:sp>
        <p:nvSpPr>
          <p:cNvPr id="3" name="TextBox 2">
            <a:extLst>
              <a:ext uri="{FF2B5EF4-FFF2-40B4-BE49-F238E27FC236}">
                <a16:creationId xmlns:a16="http://schemas.microsoft.com/office/drawing/2014/main" id="{7767135C-F22E-1F14-C935-905338F88174}"/>
              </a:ext>
            </a:extLst>
          </p:cNvPr>
          <p:cNvSpPr txBox="1"/>
          <p:nvPr/>
        </p:nvSpPr>
        <p:spPr>
          <a:xfrm>
            <a:off x="685800" y="6346206"/>
            <a:ext cx="6097554" cy="369332"/>
          </a:xfrm>
          <a:prstGeom prst="rect">
            <a:avLst/>
          </a:prstGeom>
          <a:noFill/>
        </p:spPr>
        <p:txBody>
          <a:bodyPr wrap="square">
            <a:spAutoFit/>
          </a:bodyPr>
          <a:lstStyle/>
          <a:p>
            <a:r>
              <a:rPr lang="en-GB" sz="1800" dirty="0">
                <a:latin typeface="DM Serif Display" pitchFamily="2" charset="0"/>
              </a:rPr>
              <a:t>Ellen  Beattie - </a:t>
            </a:r>
            <a:r>
              <a:rPr lang="en-GB" sz="1800" dirty="0">
                <a:latin typeface="DM Serif Display" pitchFamily="2" charset="0"/>
                <a:hlinkClick r:id="rId3"/>
              </a:rPr>
              <a:t>beattie1@tcd.ie</a:t>
            </a:r>
            <a:endParaRPr lang="en-GB" sz="1800" dirty="0">
              <a:latin typeface="DM Serif Display"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7F90A-CD2D-EA0F-3478-C04B16F38BBF}"/>
              </a:ext>
            </a:extLst>
          </p:cNvPr>
          <p:cNvSpPr>
            <a:spLocks noGrp="1"/>
          </p:cNvSpPr>
          <p:nvPr>
            <p:ph type="ctrTitle"/>
          </p:nvPr>
        </p:nvSpPr>
        <p:spPr>
          <a:xfrm>
            <a:off x="385010" y="332872"/>
            <a:ext cx="11421979" cy="4247399"/>
          </a:xfrm>
        </p:spPr>
        <p:txBody>
          <a:bodyPr anchor="ctr">
            <a:noAutofit/>
          </a:bodyPr>
          <a:lstStyle/>
          <a:p>
            <a:pPr algn="l"/>
            <a:r>
              <a:rPr lang="en-GB" sz="4800" dirty="0">
                <a:solidFill>
                  <a:srgbClr val="C03221"/>
                </a:solidFill>
                <a:latin typeface="DM Serif Display"/>
              </a:rPr>
              <a:t>Can Warm Behaviour Mitigate the Negative Effect of Unfavourable Governmental Decisions </a:t>
            </a:r>
            <a:br>
              <a:rPr lang="en-GB" sz="4800" dirty="0">
                <a:solidFill>
                  <a:srgbClr val="C03221"/>
                </a:solidFill>
                <a:latin typeface="DM Serif Display"/>
              </a:rPr>
            </a:br>
            <a:r>
              <a:rPr lang="en-GB" sz="4800" dirty="0">
                <a:solidFill>
                  <a:srgbClr val="C03221"/>
                </a:solidFill>
                <a:latin typeface="DM Serif Display"/>
              </a:rPr>
              <a:t>on Citizens’ Trust?</a:t>
            </a:r>
          </a:p>
        </p:txBody>
      </p:sp>
      <p:sp>
        <p:nvSpPr>
          <p:cNvPr id="3" name="Subtitle 2">
            <a:extLst>
              <a:ext uri="{FF2B5EF4-FFF2-40B4-BE49-F238E27FC236}">
                <a16:creationId xmlns:a16="http://schemas.microsoft.com/office/drawing/2014/main" id="{956AB42A-59CE-602A-2B6A-E3694E8BCEDE}"/>
              </a:ext>
            </a:extLst>
          </p:cNvPr>
          <p:cNvSpPr>
            <a:spLocks noGrp="1"/>
          </p:cNvSpPr>
          <p:nvPr>
            <p:ph type="subTitle" idx="1"/>
          </p:nvPr>
        </p:nvSpPr>
        <p:spPr>
          <a:xfrm>
            <a:off x="1524000" y="4945226"/>
            <a:ext cx="9144000" cy="1220736"/>
          </a:xfrm>
        </p:spPr>
        <p:txBody>
          <a:bodyPr anchor="ctr">
            <a:normAutofit/>
          </a:bodyPr>
          <a:lstStyle/>
          <a:p>
            <a:r>
              <a:rPr lang="en-GB" sz="1800" dirty="0"/>
              <a:t>Hansen, F. G. (2023). </a:t>
            </a:r>
            <a:r>
              <a:rPr lang="en-GB" sz="1800" i="1" dirty="0"/>
              <a:t>Journal of Experimental Political Science</a:t>
            </a:r>
            <a:r>
              <a:rPr lang="en-GB" sz="1800" dirty="0"/>
              <a:t>, </a:t>
            </a:r>
            <a:r>
              <a:rPr lang="en-GB" sz="1800" i="1" dirty="0"/>
              <a:t>10</a:t>
            </a:r>
            <a:r>
              <a:rPr lang="en-GB" sz="1800" dirty="0"/>
              <a:t>(1), 62–75. </a:t>
            </a:r>
          </a:p>
        </p:txBody>
      </p:sp>
      <p:cxnSp>
        <p:nvCxnSpPr>
          <p:cNvPr id="4" name="Google Shape;32;p7">
            <a:extLst>
              <a:ext uri="{FF2B5EF4-FFF2-40B4-BE49-F238E27FC236}">
                <a16:creationId xmlns:a16="http://schemas.microsoft.com/office/drawing/2014/main" id="{6A1B0ED8-02D4-6B96-FBEF-EFB797C08494}"/>
              </a:ext>
            </a:extLst>
          </p:cNvPr>
          <p:cNvCxnSpPr/>
          <p:nvPr/>
        </p:nvCxnSpPr>
        <p:spPr>
          <a:xfrm>
            <a:off x="894347" y="6525127"/>
            <a:ext cx="10820400" cy="0"/>
          </a:xfrm>
          <a:prstGeom prst="straightConnector1">
            <a:avLst/>
          </a:prstGeom>
          <a:noFill/>
          <a:ln w="38100" cap="flat" cmpd="sng">
            <a:solidFill>
              <a:schemeClr val="accent5">
                <a:lumMod val="75000"/>
              </a:schemeClr>
            </a:solidFill>
            <a:prstDash val="solid"/>
            <a:round/>
            <a:headEnd type="none" w="sm" len="sm"/>
            <a:tailEnd type="none" w="sm" len="sm"/>
          </a:ln>
        </p:spPr>
      </p:cxnSp>
    </p:spTree>
    <p:extLst>
      <p:ext uri="{BB962C8B-B14F-4D97-AF65-F5344CB8AC3E}">
        <p14:creationId xmlns:p14="http://schemas.microsoft.com/office/powerpoint/2010/main" val="3270691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071F88-1A4C-02B4-8BA2-E833725094E8}"/>
              </a:ext>
            </a:extLst>
          </p:cNvPr>
          <p:cNvSpPr>
            <a:spLocks noGrp="1"/>
          </p:cNvSpPr>
          <p:nvPr>
            <p:ph type="title"/>
          </p:nvPr>
        </p:nvSpPr>
        <p:spPr>
          <a:xfrm>
            <a:off x="0" y="1"/>
            <a:ext cx="12192000" cy="1248696"/>
          </a:xfrm>
          <a:solidFill>
            <a:schemeClr val="accent2">
              <a:lumMod val="75000"/>
            </a:schemeClr>
          </a:solidFill>
          <a:ln>
            <a:solidFill>
              <a:schemeClr val="bg1"/>
            </a:solidFill>
          </a:ln>
        </p:spPr>
        <p:txBody>
          <a:bodyPr>
            <a:normAutofit/>
          </a:bodyPr>
          <a:lstStyle/>
          <a:p>
            <a:r>
              <a:rPr lang="en-GB" sz="4800" dirty="0">
                <a:solidFill>
                  <a:schemeClr val="bg1"/>
                </a:solidFill>
              </a:rPr>
              <a:t>	Theoretical Background</a:t>
            </a:r>
          </a:p>
        </p:txBody>
      </p:sp>
      <p:sp>
        <p:nvSpPr>
          <p:cNvPr id="3" name="Content Placeholder 2">
            <a:extLst>
              <a:ext uri="{FF2B5EF4-FFF2-40B4-BE49-F238E27FC236}">
                <a16:creationId xmlns:a16="http://schemas.microsoft.com/office/drawing/2014/main" id="{22CB81CE-4A7C-564A-02CC-1C075001AAC0}"/>
              </a:ext>
            </a:extLst>
          </p:cNvPr>
          <p:cNvSpPr>
            <a:spLocks noGrp="1"/>
          </p:cNvSpPr>
          <p:nvPr>
            <p:ph sz="half" idx="1"/>
          </p:nvPr>
        </p:nvSpPr>
        <p:spPr>
          <a:xfrm>
            <a:off x="838200" y="2015613"/>
            <a:ext cx="5181600" cy="4414683"/>
          </a:xfrm>
        </p:spPr>
        <p:txBody>
          <a:bodyPr>
            <a:normAutofit fontScale="62500" lnSpcReduction="20000"/>
          </a:bodyPr>
          <a:lstStyle/>
          <a:p>
            <a:pPr>
              <a:lnSpc>
                <a:spcPct val="120000"/>
              </a:lnSpc>
            </a:pPr>
            <a:r>
              <a:rPr lang="en-GB" sz="2600" dirty="0">
                <a:latin typeface="CMU Sans Serif" panose="02000603000000000000" pitchFamily="2" charset="0"/>
                <a:ea typeface="CMU Sans Serif" panose="02000603000000000000" pitchFamily="2" charset="0"/>
                <a:cs typeface="CMU Sans Serif" panose="02000603000000000000" pitchFamily="2" charset="0"/>
              </a:rPr>
              <a:t>Citizen trust is fundamental in successful governance</a:t>
            </a:r>
          </a:p>
          <a:p>
            <a:pPr>
              <a:lnSpc>
                <a:spcPct val="120000"/>
              </a:lnSpc>
            </a:pPr>
            <a:r>
              <a:rPr lang="en-GB" sz="2600" dirty="0">
                <a:latin typeface="CMU Sans Serif" panose="02000603000000000000" pitchFamily="2" charset="0"/>
                <a:ea typeface="CMU Sans Serif" panose="02000603000000000000" pitchFamily="2" charset="0"/>
                <a:cs typeface="CMU Sans Serif" panose="02000603000000000000" pitchFamily="2" charset="0"/>
              </a:rPr>
              <a:t>Trust is often based on government performance and whether decisions fit individual preferences</a:t>
            </a:r>
          </a:p>
          <a:p>
            <a:pPr>
              <a:lnSpc>
                <a:spcPct val="120000"/>
              </a:lnSpc>
            </a:pPr>
            <a:r>
              <a:rPr lang="en-GB" sz="2600" dirty="0">
                <a:latin typeface="CMU Sans Serif" panose="02000603000000000000" pitchFamily="2" charset="0"/>
                <a:ea typeface="CMU Sans Serif" panose="02000603000000000000" pitchFamily="2" charset="0"/>
                <a:cs typeface="CMU Sans Serif" panose="02000603000000000000" pitchFamily="2" charset="0"/>
              </a:rPr>
              <a:t>There is some evidence that direct interactions with government staff has an impact on trust in the government</a:t>
            </a:r>
          </a:p>
          <a:p>
            <a:pPr>
              <a:lnSpc>
                <a:spcPct val="120000"/>
              </a:lnSpc>
            </a:pPr>
            <a:r>
              <a:rPr lang="en-GB" sz="2600" dirty="0">
                <a:latin typeface="CMU Sans Serif" panose="02000603000000000000" pitchFamily="2" charset="0"/>
                <a:ea typeface="CMU Sans Serif" panose="02000603000000000000" pitchFamily="2" charset="0"/>
                <a:cs typeface="CMU Sans Serif" panose="02000603000000000000" pitchFamily="2" charset="0"/>
              </a:rPr>
              <a:t>From social psychology, we understand the importance of interpersonal impressions when people make evaluative judgements </a:t>
            </a:r>
          </a:p>
          <a:p>
            <a:pPr marL="0" indent="0">
              <a:lnSpc>
                <a:spcPct val="120000"/>
              </a:lnSpc>
              <a:buNone/>
            </a:pPr>
            <a:endParaRPr lang="en-GB" dirty="0">
              <a:latin typeface="CMU Sans Serif" panose="02000603000000000000" pitchFamily="2" charset="0"/>
              <a:ea typeface="CMU Sans Serif" panose="02000603000000000000" pitchFamily="2" charset="0"/>
              <a:cs typeface="CMU Sans Serif" panose="02000603000000000000" pitchFamily="2" charset="0"/>
            </a:endParaRPr>
          </a:p>
          <a:p>
            <a:pPr marL="0" indent="0">
              <a:lnSpc>
                <a:spcPct val="120000"/>
              </a:lnSpc>
              <a:buNone/>
            </a:pPr>
            <a:r>
              <a:rPr lang="en-GB" b="1" dirty="0">
                <a:latin typeface="CMU Sans Serif" panose="02000603000000000000" pitchFamily="2" charset="0"/>
                <a:ea typeface="CMU Sans Serif" panose="02000603000000000000" pitchFamily="2" charset="0"/>
                <a:cs typeface="CMU Sans Serif" panose="02000603000000000000" pitchFamily="2" charset="0"/>
              </a:rPr>
              <a:t>When citizens interact with government employees, what is the impact of the perceived traits of this employee and does this impact broader government trust?</a:t>
            </a:r>
          </a:p>
          <a:p>
            <a:pPr>
              <a:lnSpc>
                <a:spcPct val="120000"/>
              </a:lnSpc>
            </a:pPr>
            <a:endParaRPr lang="en-GB" dirty="0">
              <a:latin typeface="CMU Sans Serif" panose="02000603000000000000" pitchFamily="2" charset="0"/>
              <a:ea typeface="CMU Sans Serif" panose="02000603000000000000" pitchFamily="2" charset="0"/>
              <a:cs typeface="CMU Sans Serif" panose="02000603000000000000" pitchFamily="2" charset="0"/>
            </a:endParaRPr>
          </a:p>
          <a:p>
            <a:pPr lvl="1">
              <a:lnSpc>
                <a:spcPct val="120000"/>
              </a:lnSpc>
            </a:pPr>
            <a:endParaRPr lang="en-GB" dirty="0">
              <a:latin typeface="CMU Sans Serif" panose="02000603000000000000" pitchFamily="2" charset="0"/>
              <a:ea typeface="CMU Sans Serif" panose="02000603000000000000" pitchFamily="2" charset="0"/>
              <a:cs typeface="CMU Sans Serif" panose="02000603000000000000" pitchFamily="2" charset="0"/>
            </a:endParaRPr>
          </a:p>
          <a:p>
            <a:pPr>
              <a:lnSpc>
                <a:spcPct val="120000"/>
              </a:lnSpc>
            </a:pPr>
            <a:endParaRPr lang="en-GB" dirty="0">
              <a:latin typeface="CMU Sans Serif" panose="02000603000000000000" pitchFamily="2" charset="0"/>
              <a:ea typeface="CMU Sans Serif" panose="02000603000000000000" pitchFamily="2" charset="0"/>
              <a:cs typeface="CMU Sans Serif" panose="02000603000000000000" pitchFamily="2" charset="0"/>
            </a:endParaRPr>
          </a:p>
          <a:p>
            <a:pPr>
              <a:lnSpc>
                <a:spcPct val="120000"/>
              </a:lnSpc>
            </a:pPr>
            <a:endParaRPr lang="en-GB" dirty="0">
              <a:latin typeface="CMU Sans Serif" panose="02000603000000000000" pitchFamily="2" charset="0"/>
              <a:ea typeface="CMU Sans Serif" panose="02000603000000000000" pitchFamily="2" charset="0"/>
              <a:cs typeface="CMU Sans Serif" panose="02000603000000000000" pitchFamily="2" charset="0"/>
            </a:endParaRPr>
          </a:p>
        </p:txBody>
      </p:sp>
      <p:graphicFrame>
        <p:nvGraphicFramePr>
          <p:cNvPr id="7" name="Content Placeholder 6">
            <a:extLst>
              <a:ext uri="{FF2B5EF4-FFF2-40B4-BE49-F238E27FC236}">
                <a16:creationId xmlns:a16="http://schemas.microsoft.com/office/drawing/2014/main" id="{2C310CF1-23B7-26A8-5CBE-1D81DC277A7C}"/>
              </a:ext>
            </a:extLst>
          </p:cNvPr>
          <p:cNvGraphicFramePr>
            <a:graphicFrameLocks noGrp="1"/>
          </p:cNvGraphicFramePr>
          <p:nvPr>
            <p:ph sz="half" idx="2"/>
            <p:extLst>
              <p:ext uri="{D42A27DB-BD31-4B8C-83A1-F6EECF244321}">
                <p14:modId xmlns:p14="http://schemas.microsoft.com/office/powerpoint/2010/main" val="4262960109"/>
              </p:ext>
            </p:extLst>
          </p:nvPr>
        </p:nvGraphicFramePr>
        <p:xfrm>
          <a:off x="6381136" y="2015614"/>
          <a:ext cx="5388077" cy="40607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E175000D-1288-5413-65D1-32F3F148E944}"/>
              </a:ext>
            </a:extLst>
          </p:cNvPr>
          <p:cNvSpPr txBox="1"/>
          <p:nvPr/>
        </p:nvSpPr>
        <p:spPr>
          <a:xfrm>
            <a:off x="6381136" y="1470146"/>
            <a:ext cx="3696928" cy="461665"/>
          </a:xfrm>
          <a:prstGeom prst="rect">
            <a:avLst/>
          </a:prstGeom>
          <a:noFill/>
        </p:spPr>
        <p:txBody>
          <a:bodyPr wrap="square" rtlCol="0">
            <a:spAutoFit/>
          </a:bodyPr>
          <a:lstStyle/>
          <a:p>
            <a:r>
              <a:rPr lang="en-GB" sz="2400" dirty="0">
                <a:latin typeface="DM Serif Display" pitchFamily="2" charset="0"/>
              </a:rPr>
              <a:t>Hypotheses</a:t>
            </a:r>
            <a:endParaRPr lang="en-GB" dirty="0">
              <a:latin typeface="DM Serif Display" pitchFamily="2" charset="0"/>
            </a:endParaRPr>
          </a:p>
        </p:txBody>
      </p:sp>
      <p:sp>
        <p:nvSpPr>
          <p:cNvPr id="4" name="TextBox 3">
            <a:extLst>
              <a:ext uri="{FF2B5EF4-FFF2-40B4-BE49-F238E27FC236}">
                <a16:creationId xmlns:a16="http://schemas.microsoft.com/office/drawing/2014/main" id="{7B4BBCF8-6F3C-4427-1FA6-DBE058DB5002}"/>
              </a:ext>
            </a:extLst>
          </p:cNvPr>
          <p:cNvSpPr txBox="1"/>
          <p:nvPr/>
        </p:nvSpPr>
        <p:spPr>
          <a:xfrm>
            <a:off x="838200" y="1470147"/>
            <a:ext cx="3696928" cy="461665"/>
          </a:xfrm>
          <a:prstGeom prst="rect">
            <a:avLst/>
          </a:prstGeom>
          <a:noFill/>
        </p:spPr>
        <p:txBody>
          <a:bodyPr wrap="square" rtlCol="0">
            <a:spAutoFit/>
          </a:bodyPr>
          <a:lstStyle/>
          <a:p>
            <a:r>
              <a:rPr lang="en-GB" sz="2400" dirty="0">
                <a:latin typeface="DM Serif Display" pitchFamily="2" charset="0"/>
              </a:rPr>
              <a:t>Context</a:t>
            </a:r>
          </a:p>
        </p:txBody>
      </p:sp>
    </p:spTree>
    <p:extLst>
      <p:ext uri="{BB962C8B-B14F-4D97-AF65-F5344CB8AC3E}">
        <p14:creationId xmlns:p14="http://schemas.microsoft.com/office/powerpoint/2010/main" val="3510139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9FE6-0FC2-03DE-AF64-19FDA3DC3D5C}"/>
              </a:ext>
            </a:extLst>
          </p:cNvPr>
          <p:cNvSpPr>
            <a:spLocks noGrp="1"/>
          </p:cNvSpPr>
          <p:nvPr>
            <p:ph type="title"/>
          </p:nvPr>
        </p:nvSpPr>
        <p:spPr>
          <a:xfrm>
            <a:off x="442754" y="137487"/>
            <a:ext cx="4894006" cy="908378"/>
          </a:xfrm>
        </p:spPr>
        <p:txBody>
          <a:bodyPr>
            <a:normAutofit/>
          </a:bodyPr>
          <a:lstStyle/>
          <a:p>
            <a:r>
              <a:rPr lang="en-GB" sz="4800" dirty="0"/>
              <a:t>Methodology</a:t>
            </a:r>
          </a:p>
        </p:txBody>
      </p:sp>
      <p:graphicFrame>
        <p:nvGraphicFramePr>
          <p:cNvPr id="4" name="Content Placeholder 3">
            <a:extLst>
              <a:ext uri="{FF2B5EF4-FFF2-40B4-BE49-F238E27FC236}">
                <a16:creationId xmlns:a16="http://schemas.microsoft.com/office/drawing/2014/main" id="{BF349E40-7BCE-AB80-2FBA-EA1FFED73A94}"/>
              </a:ext>
            </a:extLst>
          </p:cNvPr>
          <p:cNvGraphicFramePr>
            <a:graphicFrameLocks noGrp="1"/>
          </p:cNvGraphicFramePr>
          <p:nvPr>
            <p:ph idx="1"/>
            <p:extLst>
              <p:ext uri="{D42A27DB-BD31-4B8C-83A1-F6EECF244321}">
                <p14:modId xmlns:p14="http://schemas.microsoft.com/office/powerpoint/2010/main" val="1728100448"/>
              </p:ext>
            </p:extLst>
          </p:nvPr>
        </p:nvGraphicFramePr>
        <p:xfrm>
          <a:off x="335666" y="1848678"/>
          <a:ext cx="4894006" cy="3963456"/>
        </p:xfrm>
        <a:graphic>
          <a:graphicData uri="http://schemas.openxmlformats.org/drawingml/2006/table">
            <a:tbl>
              <a:tblPr firstRow="1" bandRow="1">
                <a:tableStyleId>{5C22544A-7EE6-4342-B048-85BDC9FD1C3A}</a:tableStyleId>
              </a:tblPr>
              <a:tblGrid>
                <a:gridCol w="412898">
                  <a:extLst>
                    <a:ext uri="{9D8B030D-6E8A-4147-A177-3AD203B41FA5}">
                      <a16:colId xmlns:a16="http://schemas.microsoft.com/office/drawing/2014/main" val="3590164946"/>
                    </a:ext>
                  </a:extLst>
                </a:gridCol>
                <a:gridCol w="510752">
                  <a:extLst>
                    <a:ext uri="{9D8B030D-6E8A-4147-A177-3AD203B41FA5}">
                      <a16:colId xmlns:a16="http://schemas.microsoft.com/office/drawing/2014/main" val="2202087252"/>
                    </a:ext>
                  </a:extLst>
                </a:gridCol>
                <a:gridCol w="1877872">
                  <a:extLst>
                    <a:ext uri="{9D8B030D-6E8A-4147-A177-3AD203B41FA5}">
                      <a16:colId xmlns:a16="http://schemas.microsoft.com/office/drawing/2014/main" val="3108853920"/>
                    </a:ext>
                  </a:extLst>
                </a:gridCol>
                <a:gridCol w="2092484">
                  <a:extLst>
                    <a:ext uri="{9D8B030D-6E8A-4147-A177-3AD203B41FA5}">
                      <a16:colId xmlns:a16="http://schemas.microsoft.com/office/drawing/2014/main" val="3927206195"/>
                    </a:ext>
                  </a:extLst>
                </a:gridCol>
              </a:tblGrid>
              <a:tr h="403367">
                <a:tc>
                  <a:txBody>
                    <a:bodyPr/>
                    <a:lstStyle/>
                    <a:p>
                      <a:endParaRPr lang="en-GB" sz="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GB" sz="1200" b="1" kern="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Government Caseworker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GB" sz="1200" b="1" kern="1200" dirty="0">
                        <a:solidFill>
                          <a:sysClr val="windowText" lastClr="000000"/>
                        </a:solidFill>
                        <a:latin typeface="+mn-lt"/>
                        <a:ea typeface="+mn-ea"/>
                        <a:cs typeface="+mn-cs"/>
                      </a:endParaRPr>
                    </a:p>
                  </a:txBody>
                  <a:tcPr anchor="ctr">
                    <a:lnL w="12700" cap="flat" cmpd="sng" algn="ctr">
                      <a:solidFill>
                        <a:schemeClr val="tx1">
                          <a:lumMod val="85000"/>
                          <a:lumOff val="15000"/>
                        </a:schemeClr>
                      </a:solidFill>
                      <a:prstDash val="solid"/>
                      <a:round/>
                      <a:headEnd type="none" w="med" len="med"/>
                      <a:tailEnd type="none" w="med" len="med"/>
                    </a:lnL>
                    <a:lnR w="12700" cmpd="sng">
                      <a:noFill/>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852057"/>
                  </a:ext>
                </a:extLst>
              </a:tr>
              <a:tr h="293293">
                <a:tc>
                  <a:txBody>
                    <a:bodyPr/>
                    <a:lstStyle/>
                    <a:p>
                      <a:endParaRPr lang="en-GB" sz="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endParaRPr>
                    </a:p>
                  </a:txBody>
                  <a:tcP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kern="12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Warmth = 0</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200" b="1" kern="12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Warmth =1</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825418483"/>
                  </a:ext>
                </a:extLst>
              </a:tr>
              <a:tr h="1633398">
                <a:tc rowSpan="2">
                  <a:txBody>
                    <a:bodyPr/>
                    <a:lstStyle/>
                    <a:p>
                      <a:pPr algn="ctr"/>
                      <a:r>
                        <a:rPr lang="en-GB" sz="1200" b="1" kern="12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Result of Nursing Home Application</a:t>
                      </a:r>
                    </a:p>
                  </a:txBody>
                  <a:tcPr vert="vert27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kern="12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Favourability = 0</a:t>
                      </a:r>
                    </a:p>
                  </a:txBody>
                  <a:tcPr vert="vert27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accent2">
                              <a:lumMod val="75000"/>
                            </a:schemeClr>
                          </a:solidFill>
                          <a:latin typeface="CMU Sans Serif" panose="02000603000000000000" pitchFamily="2" charset="0"/>
                          <a:ea typeface="CMU Sans Serif" panose="02000603000000000000" pitchFamily="2" charset="0"/>
                          <a:cs typeface="CMU Sans Serif" panose="02000603000000000000" pitchFamily="2" charset="0"/>
                        </a:rPr>
                        <a:t>Group 4  </a:t>
                      </a:r>
                    </a:p>
                    <a:p>
                      <a:pPr algn="ctr"/>
                      <a:r>
                        <a:rPr lang="en-GB" sz="14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Low Warmth + Unfavourable Decision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i="0" dirty="0">
                          <a:solidFill>
                            <a:schemeClr val="accent2">
                              <a:lumMod val="75000"/>
                            </a:schemeClr>
                          </a:solidFill>
                          <a:latin typeface="CMU Sans Serif" panose="02000603000000000000" pitchFamily="2" charset="0"/>
                          <a:ea typeface="CMU Sans Serif" panose="02000603000000000000" pitchFamily="2" charset="0"/>
                          <a:cs typeface="CMU Sans Serif" panose="02000603000000000000" pitchFamily="2" charset="0"/>
                        </a:rPr>
                        <a:t>Group 1</a:t>
                      </a:r>
                    </a:p>
                    <a:p>
                      <a:pPr algn="ctr"/>
                      <a:r>
                        <a:rPr lang="en-GB" sz="14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High Warmth +  Unfavourable Decision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8698160"/>
                  </a:ext>
                </a:extLst>
              </a:tr>
              <a:tr h="1633398">
                <a:tc vMerge="1">
                  <a:txBody>
                    <a:bodyPr/>
                    <a:lstStyle/>
                    <a:p>
                      <a:pPr algn="ctr"/>
                      <a:endParaRPr lang="en-GB" sz="1200" b="1" kern="1200" dirty="0">
                        <a:solidFill>
                          <a:sysClr val="windowText" lastClr="000000"/>
                        </a:solidFill>
                        <a:latin typeface="+mn-lt"/>
                        <a:ea typeface="+mn-ea"/>
                        <a:cs typeface="+mn-cs"/>
                      </a:endParaRPr>
                    </a:p>
                  </a:txBody>
                  <a:tcPr vert="vert270"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kern="12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Favourability = 1</a:t>
                      </a:r>
                    </a:p>
                  </a:txBody>
                  <a:tcPr vert="vert27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accent2">
                              <a:lumMod val="75000"/>
                            </a:schemeClr>
                          </a:solidFill>
                          <a:latin typeface="CMU Sans Serif" panose="02000603000000000000" pitchFamily="2" charset="0"/>
                          <a:ea typeface="CMU Sans Serif" panose="02000603000000000000" pitchFamily="2" charset="0"/>
                          <a:cs typeface="CMU Sans Serif" panose="02000603000000000000" pitchFamily="2" charset="0"/>
                        </a:rPr>
                        <a:t>Group 3</a:t>
                      </a:r>
                    </a:p>
                    <a:p>
                      <a:pPr algn="ctr"/>
                      <a:r>
                        <a:rPr lang="en-GB" sz="14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Low Warmth +  Favourable Decision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solidFill>
                            <a:schemeClr val="accent2">
                              <a:lumMod val="75000"/>
                            </a:schemeClr>
                          </a:solidFill>
                          <a:latin typeface="CMU Sans Serif" panose="02000603000000000000" pitchFamily="2" charset="0"/>
                          <a:ea typeface="CMU Sans Serif" panose="02000603000000000000" pitchFamily="2" charset="0"/>
                          <a:cs typeface="CMU Sans Serif" panose="02000603000000000000" pitchFamily="2" charset="0"/>
                        </a:rPr>
                        <a:t>Group 2</a:t>
                      </a:r>
                    </a:p>
                    <a:p>
                      <a:pPr algn="ctr"/>
                      <a:r>
                        <a:rPr lang="en-GB" sz="1400" dirty="0">
                          <a:solidFill>
                            <a:sysClr val="windowText" lastClr="000000"/>
                          </a:solidFill>
                          <a:latin typeface="CMU Sans Serif" panose="02000603000000000000" pitchFamily="2" charset="0"/>
                          <a:ea typeface="CMU Sans Serif" panose="02000603000000000000" pitchFamily="2" charset="0"/>
                          <a:cs typeface="CMU Sans Serif" panose="02000603000000000000" pitchFamily="2" charset="0"/>
                        </a:rPr>
                        <a:t>High Warmth + Favourable Decision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4337336"/>
                  </a:ext>
                </a:extLst>
              </a:tr>
            </a:tbl>
          </a:graphicData>
        </a:graphic>
      </p:graphicFrame>
      <p:pic>
        <p:nvPicPr>
          <p:cNvPr id="1026" name="Picture 2" descr="National Board of Social Services, Denmark | ESN">
            <a:extLst>
              <a:ext uri="{FF2B5EF4-FFF2-40B4-BE49-F238E27FC236}">
                <a16:creationId xmlns:a16="http://schemas.microsoft.com/office/drawing/2014/main" id="{8AA01395-3195-8D18-F8E5-B87076F4F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9823" y="73695"/>
            <a:ext cx="2421911" cy="14531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AADB8F0-2EA6-78F4-732F-CCE66C3B1564}"/>
              </a:ext>
            </a:extLst>
          </p:cNvPr>
          <p:cNvSpPr txBox="1"/>
          <p:nvPr/>
        </p:nvSpPr>
        <p:spPr>
          <a:xfrm>
            <a:off x="6217277" y="5506675"/>
            <a:ext cx="5202244" cy="523220"/>
          </a:xfrm>
          <a:prstGeom prst="rect">
            <a:avLst/>
          </a:prstGeom>
          <a:noFill/>
        </p:spPr>
        <p:txBody>
          <a:bodyPr wrap="square" rtlCol="0">
            <a:spAutoFit/>
          </a:bodyPr>
          <a:lstStyle/>
          <a:p>
            <a:pPr algn="ctr"/>
            <a:r>
              <a:rPr lang="en-GB" sz="1400" dirty="0">
                <a:latin typeface="DM Serif Text" pitchFamily="2" charset="0"/>
                <a:ea typeface="CMU Sans Serif" panose="02000603000000000000" pitchFamily="2" charset="0"/>
                <a:cs typeface="CMU Sans Serif" panose="02000603000000000000" pitchFamily="2" charset="0"/>
              </a:rPr>
              <a:t>“How much do you personally trust the</a:t>
            </a:r>
          </a:p>
          <a:p>
            <a:pPr algn="ctr"/>
            <a:r>
              <a:rPr lang="en-GB" sz="1400" dirty="0">
                <a:latin typeface="DM Serif Text" pitchFamily="2" charset="0"/>
                <a:ea typeface="CMU Sans Serif" panose="02000603000000000000" pitchFamily="2" charset="0"/>
                <a:cs typeface="CMU Sans Serif" panose="02000603000000000000" pitchFamily="2" charset="0"/>
              </a:rPr>
              <a:t> [municipality/the caseworker] to make the right decisions?”</a:t>
            </a:r>
          </a:p>
        </p:txBody>
      </p:sp>
      <p:graphicFrame>
        <p:nvGraphicFramePr>
          <p:cNvPr id="7" name="Table 6">
            <a:extLst>
              <a:ext uri="{FF2B5EF4-FFF2-40B4-BE49-F238E27FC236}">
                <a16:creationId xmlns:a16="http://schemas.microsoft.com/office/drawing/2014/main" id="{1B7902CF-CE4A-EEE2-19B4-9BAC4D3264E9}"/>
              </a:ext>
            </a:extLst>
          </p:cNvPr>
          <p:cNvGraphicFramePr>
            <a:graphicFrameLocks noGrp="1"/>
          </p:cNvGraphicFramePr>
          <p:nvPr>
            <p:extLst>
              <p:ext uri="{D42A27DB-BD31-4B8C-83A1-F6EECF244321}">
                <p14:modId xmlns:p14="http://schemas.microsoft.com/office/powerpoint/2010/main" val="2964577080"/>
              </p:ext>
            </p:extLst>
          </p:nvPr>
        </p:nvGraphicFramePr>
        <p:xfrm>
          <a:off x="6756020" y="6057176"/>
          <a:ext cx="4124758" cy="323165"/>
        </p:xfrm>
        <a:graphic>
          <a:graphicData uri="http://schemas.openxmlformats.org/drawingml/2006/table">
            <a:tbl>
              <a:tblPr firstRow="1" bandRow="1">
                <a:tableStyleId>{5C22544A-7EE6-4342-B048-85BDC9FD1C3A}</a:tableStyleId>
              </a:tblPr>
              <a:tblGrid>
                <a:gridCol w="374978">
                  <a:extLst>
                    <a:ext uri="{9D8B030D-6E8A-4147-A177-3AD203B41FA5}">
                      <a16:colId xmlns:a16="http://schemas.microsoft.com/office/drawing/2014/main" val="1172545776"/>
                    </a:ext>
                  </a:extLst>
                </a:gridCol>
                <a:gridCol w="374978">
                  <a:extLst>
                    <a:ext uri="{9D8B030D-6E8A-4147-A177-3AD203B41FA5}">
                      <a16:colId xmlns:a16="http://schemas.microsoft.com/office/drawing/2014/main" val="2590218934"/>
                    </a:ext>
                  </a:extLst>
                </a:gridCol>
                <a:gridCol w="374978">
                  <a:extLst>
                    <a:ext uri="{9D8B030D-6E8A-4147-A177-3AD203B41FA5}">
                      <a16:colId xmlns:a16="http://schemas.microsoft.com/office/drawing/2014/main" val="3838616275"/>
                    </a:ext>
                  </a:extLst>
                </a:gridCol>
                <a:gridCol w="374978">
                  <a:extLst>
                    <a:ext uri="{9D8B030D-6E8A-4147-A177-3AD203B41FA5}">
                      <a16:colId xmlns:a16="http://schemas.microsoft.com/office/drawing/2014/main" val="1760050832"/>
                    </a:ext>
                  </a:extLst>
                </a:gridCol>
                <a:gridCol w="374978">
                  <a:extLst>
                    <a:ext uri="{9D8B030D-6E8A-4147-A177-3AD203B41FA5}">
                      <a16:colId xmlns:a16="http://schemas.microsoft.com/office/drawing/2014/main" val="3400197775"/>
                    </a:ext>
                  </a:extLst>
                </a:gridCol>
                <a:gridCol w="374978">
                  <a:extLst>
                    <a:ext uri="{9D8B030D-6E8A-4147-A177-3AD203B41FA5}">
                      <a16:colId xmlns:a16="http://schemas.microsoft.com/office/drawing/2014/main" val="3899793948"/>
                    </a:ext>
                  </a:extLst>
                </a:gridCol>
                <a:gridCol w="374978">
                  <a:extLst>
                    <a:ext uri="{9D8B030D-6E8A-4147-A177-3AD203B41FA5}">
                      <a16:colId xmlns:a16="http://schemas.microsoft.com/office/drawing/2014/main" val="1246873709"/>
                    </a:ext>
                  </a:extLst>
                </a:gridCol>
                <a:gridCol w="374978">
                  <a:extLst>
                    <a:ext uri="{9D8B030D-6E8A-4147-A177-3AD203B41FA5}">
                      <a16:colId xmlns:a16="http://schemas.microsoft.com/office/drawing/2014/main" val="3927817840"/>
                    </a:ext>
                  </a:extLst>
                </a:gridCol>
                <a:gridCol w="374978">
                  <a:extLst>
                    <a:ext uri="{9D8B030D-6E8A-4147-A177-3AD203B41FA5}">
                      <a16:colId xmlns:a16="http://schemas.microsoft.com/office/drawing/2014/main" val="3609666915"/>
                    </a:ext>
                  </a:extLst>
                </a:gridCol>
                <a:gridCol w="374978">
                  <a:extLst>
                    <a:ext uri="{9D8B030D-6E8A-4147-A177-3AD203B41FA5}">
                      <a16:colId xmlns:a16="http://schemas.microsoft.com/office/drawing/2014/main" val="3470091660"/>
                    </a:ext>
                  </a:extLst>
                </a:gridCol>
                <a:gridCol w="374978">
                  <a:extLst>
                    <a:ext uri="{9D8B030D-6E8A-4147-A177-3AD203B41FA5}">
                      <a16:colId xmlns:a16="http://schemas.microsoft.com/office/drawing/2014/main" val="2766637368"/>
                    </a:ext>
                  </a:extLst>
                </a:gridCol>
              </a:tblGrid>
              <a:tr h="323165">
                <a:tc>
                  <a:txBody>
                    <a:bodyPr/>
                    <a:lstStyle/>
                    <a:p>
                      <a:pPr algn="ctr"/>
                      <a:r>
                        <a:rPr lang="en-GB" sz="1400" dirty="0">
                          <a:solidFill>
                            <a:schemeClr val="bg1"/>
                          </a:solidFill>
                        </a:rPr>
                        <a:t>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7</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8</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9</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GB" sz="1400" dirty="0">
                          <a:solidFill>
                            <a:schemeClr val="bg1"/>
                          </a:solidFill>
                        </a:rPr>
                        <a:t>10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793780668"/>
                  </a:ext>
                </a:extLst>
              </a:tr>
            </a:tbl>
          </a:graphicData>
        </a:graphic>
      </p:graphicFrame>
      <p:sp>
        <p:nvSpPr>
          <p:cNvPr id="9" name="TextBox 8">
            <a:extLst>
              <a:ext uri="{FF2B5EF4-FFF2-40B4-BE49-F238E27FC236}">
                <a16:creationId xmlns:a16="http://schemas.microsoft.com/office/drawing/2014/main" id="{58CAB7D4-F4A0-888F-81B7-293421F22DED}"/>
              </a:ext>
            </a:extLst>
          </p:cNvPr>
          <p:cNvSpPr txBox="1"/>
          <p:nvPr/>
        </p:nvSpPr>
        <p:spPr>
          <a:xfrm>
            <a:off x="6217130" y="6484251"/>
            <a:ext cx="1512857" cy="307777"/>
          </a:xfrm>
          <a:prstGeom prst="rect">
            <a:avLst/>
          </a:prstGeom>
          <a:noFill/>
        </p:spPr>
        <p:txBody>
          <a:bodyPr wrap="square" rtlCol="0">
            <a:spAutoFit/>
          </a:bodyPr>
          <a:lstStyle/>
          <a:p>
            <a:r>
              <a:rPr lang="en-GB" sz="1400" dirty="0">
                <a:latin typeface="CMU Sans Serif" panose="02000603000000000000" pitchFamily="2" charset="0"/>
                <a:ea typeface="CMU Sans Serif" panose="02000603000000000000" pitchFamily="2" charset="0"/>
                <a:cs typeface="CMU Sans Serif" panose="02000603000000000000" pitchFamily="2" charset="0"/>
              </a:rPr>
              <a:t>‘No Trust At All’</a:t>
            </a:r>
          </a:p>
        </p:txBody>
      </p:sp>
      <p:sp>
        <p:nvSpPr>
          <p:cNvPr id="10" name="TextBox 9">
            <a:extLst>
              <a:ext uri="{FF2B5EF4-FFF2-40B4-BE49-F238E27FC236}">
                <a16:creationId xmlns:a16="http://schemas.microsoft.com/office/drawing/2014/main" id="{88010D0C-2851-9D24-F78A-6A580294BE86}"/>
              </a:ext>
            </a:extLst>
          </p:cNvPr>
          <p:cNvSpPr txBox="1"/>
          <p:nvPr/>
        </p:nvSpPr>
        <p:spPr>
          <a:xfrm>
            <a:off x="9849302" y="6550223"/>
            <a:ext cx="1851085" cy="307777"/>
          </a:xfrm>
          <a:prstGeom prst="rect">
            <a:avLst/>
          </a:prstGeom>
          <a:noFill/>
        </p:spPr>
        <p:txBody>
          <a:bodyPr wrap="square" rtlCol="0">
            <a:spAutoFit/>
          </a:bodyPr>
          <a:lstStyle/>
          <a:p>
            <a:r>
              <a:rPr lang="en-GB" sz="1400" dirty="0">
                <a:latin typeface="CMU Sans Serif" panose="02000603000000000000" pitchFamily="2" charset="0"/>
                <a:ea typeface="CMU Sans Serif" panose="02000603000000000000" pitchFamily="2" charset="0"/>
                <a:cs typeface="CMU Sans Serif" panose="02000603000000000000" pitchFamily="2" charset="0"/>
              </a:rPr>
              <a:t>‘Completely Trust’</a:t>
            </a:r>
          </a:p>
        </p:txBody>
      </p:sp>
      <p:cxnSp>
        <p:nvCxnSpPr>
          <p:cNvPr id="12" name="Straight Arrow Connector 11">
            <a:extLst>
              <a:ext uri="{FF2B5EF4-FFF2-40B4-BE49-F238E27FC236}">
                <a16:creationId xmlns:a16="http://schemas.microsoft.com/office/drawing/2014/main" id="{6B840970-8906-0693-59F1-1F1927604531}"/>
              </a:ext>
            </a:extLst>
          </p:cNvPr>
          <p:cNvCxnSpPr>
            <a:cxnSpLocks/>
          </p:cNvCxnSpPr>
          <p:nvPr/>
        </p:nvCxnSpPr>
        <p:spPr>
          <a:xfrm flipV="1">
            <a:off x="10684498" y="6495661"/>
            <a:ext cx="0" cy="96847"/>
          </a:xfrm>
          <a:prstGeom prst="straightConnector1">
            <a:avLst/>
          </a:prstGeom>
          <a:ln>
            <a:solidFill>
              <a:schemeClr val="accent2">
                <a:lumMod val="75000"/>
              </a:schemeClr>
            </a:solidFill>
            <a:tailEnd type="triangle"/>
          </a:ln>
        </p:spPr>
        <p:style>
          <a:lnRef idx="2">
            <a:schemeClr val="accent2"/>
          </a:lnRef>
          <a:fillRef idx="0">
            <a:schemeClr val="accent2"/>
          </a:fillRef>
          <a:effectRef idx="1">
            <a:schemeClr val="accent2"/>
          </a:effectRef>
          <a:fontRef idx="minor">
            <a:schemeClr val="tx1"/>
          </a:fontRef>
        </p:style>
      </p:cxnSp>
      <p:sp>
        <p:nvSpPr>
          <p:cNvPr id="8" name="TextBox 7">
            <a:extLst>
              <a:ext uri="{FF2B5EF4-FFF2-40B4-BE49-F238E27FC236}">
                <a16:creationId xmlns:a16="http://schemas.microsoft.com/office/drawing/2014/main" id="{95D9FF3D-DB6C-7C93-BFE9-9DDC102BEA10}"/>
              </a:ext>
            </a:extLst>
          </p:cNvPr>
          <p:cNvSpPr txBox="1"/>
          <p:nvPr/>
        </p:nvSpPr>
        <p:spPr>
          <a:xfrm>
            <a:off x="442754" y="1216439"/>
            <a:ext cx="3696928" cy="461665"/>
          </a:xfrm>
          <a:prstGeom prst="rect">
            <a:avLst/>
          </a:prstGeom>
          <a:noFill/>
        </p:spPr>
        <p:txBody>
          <a:bodyPr wrap="square" rtlCol="0">
            <a:spAutoFit/>
          </a:bodyPr>
          <a:lstStyle/>
          <a:p>
            <a:r>
              <a:rPr lang="en-GB" sz="2400" dirty="0">
                <a:latin typeface="DM Serif Display" pitchFamily="2" charset="0"/>
              </a:rPr>
              <a:t>Experimental Groups</a:t>
            </a:r>
          </a:p>
        </p:txBody>
      </p:sp>
      <p:sp>
        <p:nvSpPr>
          <p:cNvPr id="11" name="TextBox 10">
            <a:extLst>
              <a:ext uri="{FF2B5EF4-FFF2-40B4-BE49-F238E27FC236}">
                <a16:creationId xmlns:a16="http://schemas.microsoft.com/office/drawing/2014/main" id="{AFB3EC43-1B7C-7447-969B-D4AA2ACC2124}"/>
              </a:ext>
            </a:extLst>
          </p:cNvPr>
          <p:cNvSpPr txBox="1"/>
          <p:nvPr/>
        </p:nvSpPr>
        <p:spPr>
          <a:xfrm>
            <a:off x="5674381" y="1216440"/>
            <a:ext cx="3696928" cy="461665"/>
          </a:xfrm>
          <a:prstGeom prst="rect">
            <a:avLst/>
          </a:prstGeom>
          <a:noFill/>
        </p:spPr>
        <p:txBody>
          <a:bodyPr wrap="square" rtlCol="0">
            <a:spAutoFit/>
          </a:bodyPr>
          <a:lstStyle/>
          <a:p>
            <a:r>
              <a:rPr lang="en-GB" sz="2400" dirty="0">
                <a:latin typeface="DM Serif Display" pitchFamily="2" charset="0"/>
              </a:rPr>
              <a:t>Method</a:t>
            </a:r>
          </a:p>
        </p:txBody>
      </p:sp>
      <p:sp>
        <p:nvSpPr>
          <p:cNvPr id="14" name="TextBox 13">
            <a:extLst>
              <a:ext uri="{FF2B5EF4-FFF2-40B4-BE49-F238E27FC236}">
                <a16:creationId xmlns:a16="http://schemas.microsoft.com/office/drawing/2014/main" id="{CDB42DFB-1DEF-9BEC-6B63-F795ECB1D69D}"/>
              </a:ext>
            </a:extLst>
          </p:cNvPr>
          <p:cNvSpPr txBox="1"/>
          <p:nvPr/>
        </p:nvSpPr>
        <p:spPr>
          <a:xfrm>
            <a:off x="5415881" y="1849918"/>
            <a:ext cx="6156829" cy="341632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CMU Sans Serif" panose="02000603000000000000" pitchFamily="2" charset="0"/>
                <a:ea typeface="CMU Sans Serif" panose="02000603000000000000" pitchFamily="2" charset="0"/>
                <a:cs typeface="CMU Sans Serif" panose="02000603000000000000" pitchFamily="2" charset="0"/>
              </a:rPr>
              <a:t>Participants read one of four vignettes in which they imagine helping a close elderly relative apply for a place in a nursing home</a:t>
            </a:r>
          </a:p>
          <a:p>
            <a:pPr marL="285750" indent="-285750" algn="just">
              <a:buFont typeface="Arial" panose="020B0604020202020204" pitchFamily="34" charset="0"/>
              <a:buChar char="•"/>
            </a:pPr>
            <a:r>
              <a:rPr lang="en-GB" dirty="0">
                <a:latin typeface="CMU Sans Serif" panose="02000603000000000000" pitchFamily="2" charset="0"/>
                <a:ea typeface="CMU Sans Serif" panose="02000603000000000000" pitchFamily="2" charset="0"/>
                <a:cs typeface="CMU Sans Serif" panose="02000603000000000000" pitchFamily="2" charset="0"/>
              </a:rPr>
              <a:t>Two features are manipulated in the vignettes: the description of the caseworker (high or low warmth) and decision on the application (accepted versus rejected).</a:t>
            </a:r>
          </a:p>
          <a:p>
            <a:pPr marL="285750" indent="-285750" algn="just">
              <a:buFont typeface="Arial" panose="020B0604020202020204" pitchFamily="34" charset="0"/>
              <a:buChar char="•"/>
            </a:pPr>
            <a:r>
              <a:rPr lang="en-GB" dirty="0">
                <a:latin typeface="CMU Sans Serif" panose="02000603000000000000" pitchFamily="2" charset="0"/>
                <a:ea typeface="CMU Sans Serif" panose="02000603000000000000" pitchFamily="2" charset="0"/>
                <a:cs typeface="CMU Sans Serif" panose="02000603000000000000" pitchFamily="2" charset="0"/>
              </a:rPr>
              <a:t>Participants answered a series of demographic questions as well as rating the caseworker and the decision on a number of traits</a:t>
            </a:r>
          </a:p>
          <a:p>
            <a:pPr marL="285750" indent="-285750" algn="just">
              <a:buFont typeface="Arial" panose="020B0604020202020204" pitchFamily="34" charset="0"/>
              <a:buChar char="•"/>
            </a:pPr>
            <a:r>
              <a:rPr lang="en-GB" dirty="0">
                <a:latin typeface="CMU Sans Serif" panose="02000603000000000000" pitchFamily="2" charset="0"/>
                <a:ea typeface="CMU Sans Serif" panose="02000603000000000000" pitchFamily="2" charset="0"/>
                <a:cs typeface="CMU Sans Serif" panose="02000603000000000000" pitchFamily="2" charset="0"/>
              </a:rPr>
              <a:t>Trust was then rated on a 0-10 scale depending on how much they trusted (a) the bureaucrat and (b) the municipality </a:t>
            </a:r>
          </a:p>
        </p:txBody>
      </p:sp>
      <p:sp>
        <p:nvSpPr>
          <p:cNvPr id="15" name="TextBox 14">
            <a:extLst>
              <a:ext uri="{FF2B5EF4-FFF2-40B4-BE49-F238E27FC236}">
                <a16:creationId xmlns:a16="http://schemas.microsoft.com/office/drawing/2014/main" id="{2311C063-33C3-21E1-FFDD-4542DBC7BE60}"/>
              </a:ext>
            </a:extLst>
          </p:cNvPr>
          <p:cNvSpPr txBox="1"/>
          <p:nvPr/>
        </p:nvSpPr>
        <p:spPr>
          <a:xfrm>
            <a:off x="1104913" y="5864184"/>
            <a:ext cx="4124759" cy="523220"/>
          </a:xfrm>
          <a:prstGeom prst="rect">
            <a:avLst/>
          </a:prstGeom>
          <a:noFill/>
        </p:spPr>
        <p:txBody>
          <a:bodyPr wrap="square" rtlCol="0">
            <a:spAutoFit/>
          </a:bodyPr>
          <a:lstStyle/>
          <a:p>
            <a:pPr algn="just"/>
            <a:r>
              <a:rPr lang="en-GB" sz="1400" i="1" dirty="0">
                <a:latin typeface="CMU Sans Serif" panose="02000603000000000000" pitchFamily="2" charset="0"/>
                <a:ea typeface="CMU Sans Serif" panose="02000603000000000000" pitchFamily="2" charset="0"/>
                <a:cs typeface="CMU Sans Serif" panose="02000603000000000000" pitchFamily="2" charset="0"/>
              </a:rPr>
              <a:t>2x2 survey experiment on representative sample of Danish Citizens  (n = 1613) </a:t>
            </a:r>
          </a:p>
        </p:txBody>
      </p:sp>
      <p:cxnSp>
        <p:nvCxnSpPr>
          <p:cNvPr id="17" name="Straight Arrow Connector 16">
            <a:extLst>
              <a:ext uri="{FF2B5EF4-FFF2-40B4-BE49-F238E27FC236}">
                <a16:creationId xmlns:a16="http://schemas.microsoft.com/office/drawing/2014/main" id="{61764EC8-E00A-4B44-492C-51DC88557157}"/>
              </a:ext>
            </a:extLst>
          </p:cNvPr>
          <p:cNvCxnSpPr>
            <a:cxnSpLocks/>
          </p:cNvCxnSpPr>
          <p:nvPr/>
        </p:nvCxnSpPr>
        <p:spPr>
          <a:xfrm flipV="1">
            <a:off x="6940763" y="6387404"/>
            <a:ext cx="0" cy="96847"/>
          </a:xfrm>
          <a:prstGeom prst="straightConnector1">
            <a:avLst/>
          </a:prstGeom>
          <a:ln>
            <a:solidFill>
              <a:schemeClr val="accent2">
                <a:lumMod val="75000"/>
              </a:schemeClr>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40442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FD15-4848-0EB7-6F83-7793DDABC0C9}"/>
              </a:ext>
            </a:extLst>
          </p:cNvPr>
          <p:cNvSpPr>
            <a:spLocks noGrp="1"/>
          </p:cNvSpPr>
          <p:nvPr>
            <p:ph type="title"/>
          </p:nvPr>
        </p:nvSpPr>
        <p:spPr>
          <a:xfrm>
            <a:off x="640080" y="329184"/>
            <a:ext cx="6894576" cy="1783080"/>
          </a:xfrm>
        </p:spPr>
        <p:txBody>
          <a:bodyPr anchor="b">
            <a:normAutofit/>
          </a:bodyPr>
          <a:lstStyle/>
          <a:p>
            <a:r>
              <a:rPr lang="en-GB" sz="5400" dirty="0"/>
              <a:t>Data</a:t>
            </a:r>
          </a:p>
        </p:txBody>
      </p:sp>
      <p:sp>
        <p:nvSpPr>
          <p:cNvPr id="2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screenshot of a computer program&#10;&#10;AI-generated content may be incorrect.">
            <a:extLst>
              <a:ext uri="{FF2B5EF4-FFF2-40B4-BE49-F238E27FC236}">
                <a16:creationId xmlns:a16="http://schemas.microsoft.com/office/drawing/2014/main" id="{B1AFE3EA-CFB5-6E9B-C2FF-043F2FBB8076}"/>
              </a:ext>
            </a:extLst>
          </p:cNvPr>
          <p:cNvPicPr>
            <a:picLocks noChangeAspect="1"/>
          </p:cNvPicPr>
          <p:nvPr/>
        </p:nvPicPr>
        <p:blipFill>
          <a:blip r:embed="rId3"/>
          <a:stretch>
            <a:fillRect/>
          </a:stretch>
        </p:blipFill>
        <p:spPr>
          <a:xfrm>
            <a:off x="7854696" y="3153570"/>
            <a:ext cx="4014216" cy="3109225"/>
          </a:xfrm>
          <a:prstGeom prst="rect">
            <a:avLst/>
          </a:prstGeom>
          <a:ln w="28575">
            <a:solidFill>
              <a:schemeClr val="accent2">
                <a:lumMod val="75000"/>
              </a:schemeClr>
            </a:solidFill>
          </a:ln>
        </p:spPr>
      </p:pic>
      <p:sp>
        <p:nvSpPr>
          <p:cNvPr id="20" name="TextBox 19">
            <a:extLst>
              <a:ext uri="{FF2B5EF4-FFF2-40B4-BE49-F238E27FC236}">
                <a16:creationId xmlns:a16="http://schemas.microsoft.com/office/drawing/2014/main" id="{3BAE579E-311D-563D-D8C1-82825D0C8BA0}"/>
              </a:ext>
            </a:extLst>
          </p:cNvPr>
          <p:cNvSpPr txBox="1"/>
          <p:nvPr/>
        </p:nvSpPr>
        <p:spPr>
          <a:xfrm>
            <a:off x="7854696" y="2760165"/>
            <a:ext cx="2454442" cy="338554"/>
          </a:xfrm>
          <a:prstGeom prst="rect">
            <a:avLst/>
          </a:prstGeom>
          <a:noFill/>
        </p:spPr>
        <p:txBody>
          <a:bodyPr wrap="square" rtlCol="0">
            <a:spAutoFit/>
          </a:bodyPr>
          <a:lstStyle/>
          <a:p>
            <a:r>
              <a:rPr lang="en-GB" sz="1600" dirty="0">
                <a:latin typeface="DM Serif Text" panose="020F0502020204030204" pitchFamily="2" charset="0"/>
              </a:rPr>
              <a:t>Included Variables </a:t>
            </a:r>
          </a:p>
        </p:txBody>
      </p:sp>
      <p:pic>
        <p:nvPicPr>
          <p:cNvPr id="4" name="Content Placeholder 3" descr="A white background with numbers and text&#10;&#10;AI-generated content may be incorrect.">
            <a:extLst>
              <a:ext uri="{FF2B5EF4-FFF2-40B4-BE49-F238E27FC236}">
                <a16:creationId xmlns:a16="http://schemas.microsoft.com/office/drawing/2014/main" id="{9302527A-30F6-582C-9A47-BDAD377A35C2}"/>
              </a:ext>
            </a:extLst>
          </p:cNvPr>
          <p:cNvPicPr>
            <a:picLocks noGrp="1" noChangeAspect="1"/>
          </p:cNvPicPr>
          <p:nvPr>
            <p:ph idx="1"/>
          </p:nvPr>
        </p:nvPicPr>
        <p:blipFill>
          <a:blip r:embed="rId4"/>
          <a:stretch>
            <a:fillRect/>
          </a:stretch>
        </p:blipFill>
        <p:spPr>
          <a:xfrm>
            <a:off x="323088" y="3789680"/>
            <a:ext cx="7511301" cy="2615355"/>
          </a:xfrm>
          <a:prstGeom prst="rect">
            <a:avLst/>
          </a:prstGeom>
        </p:spPr>
      </p:pic>
      <p:sp>
        <p:nvSpPr>
          <p:cNvPr id="5" name="Speech Bubble: Rectangle 4">
            <a:extLst>
              <a:ext uri="{FF2B5EF4-FFF2-40B4-BE49-F238E27FC236}">
                <a16:creationId xmlns:a16="http://schemas.microsoft.com/office/drawing/2014/main" id="{8D04A5B7-3D88-2489-7F4B-C46BDE4A2C5B}"/>
              </a:ext>
            </a:extLst>
          </p:cNvPr>
          <p:cNvSpPr/>
          <p:nvPr/>
        </p:nvSpPr>
        <p:spPr>
          <a:xfrm>
            <a:off x="2441558" y="2967668"/>
            <a:ext cx="1264776" cy="493181"/>
          </a:xfrm>
          <a:prstGeom prst="wedgeRectCallout">
            <a:avLst>
              <a:gd name="adj1" fmla="val 20121"/>
              <a:gd name="adj2" fmla="val 102652"/>
            </a:avLst>
          </a:prstGeom>
          <a:solidFill>
            <a:schemeClr val="bg1"/>
          </a:solid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CMU Sans Serif" panose="02000603000000000000" pitchFamily="2" charset="0"/>
                <a:ea typeface="CMU Sans Serif" panose="02000603000000000000" pitchFamily="2" charset="0"/>
                <a:cs typeface="CMU Sans Serif" panose="02000603000000000000" pitchFamily="2" charset="0"/>
              </a:rPr>
              <a:t>Favourability of decision outcome</a:t>
            </a:r>
          </a:p>
        </p:txBody>
      </p:sp>
      <p:sp>
        <p:nvSpPr>
          <p:cNvPr id="6" name="Speech Bubble: Rectangle 5">
            <a:extLst>
              <a:ext uri="{FF2B5EF4-FFF2-40B4-BE49-F238E27FC236}">
                <a16:creationId xmlns:a16="http://schemas.microsoft.com/office/drawing/2014/main" id="{7AE5F20B-D6A6-DDBC-9B3D-735526E1C6AB}"/>
              </a:ext>
            </a:extLst>
          </p:cNvPr>
          <p:cNvSpPr/>
          <p:nvPr/>
        </p:nvSpPr>
        <p:spPr>
          <a:xfrm>
            <a:off x="3894040" y="3019176"/>
            <a:ext cx="1061947" cy="404059"/>
          </a:xfrm>
          <a:prstGeom prst="wedgeRectCallout">
            <a:avLst>
              <a:gd name="adj1" fmla="val 18343"/>
              <a:gd name="adj2" fmla="val 121193"/>
            </a:avLst>
          </a:prstGeom>
          <a:solidFill>
            <a:schemeClr val="bg1"/>
          </a:solid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CMU Sans Serif" panose="02000603000000000000" pitchFamily="2" charset="0"/>
                <a:ea typeface="CMU Sans Serif" panose="02000603000000000000" pitchFamily="2" charset="0"/>
                <a:cs typeface="CMU Sans Serif" panose="02000603000000000000" pitchFamily="2" charset="0"/>
              </a:rPr>
              <a:t>Warmth of Bureaucrat</a:t>
            </a:r>
          </a:p>
        </p:txBody>
      </p:sp>
      <p:sp>
        <p:nvSpPr>
          <p:cNvPr id="7" name="Speech Bubble: Rectangle 6">
            <a:extLst>
              <a:ext uri="{FF2B5EF4-FFF2-40B4-BE49-F238E27FC236}">
                <a16:creationId xmlns:a16="http://schemas.microsoft.com/office/drawing/2014/main" id="{674DCF63-26F3-ACC4-A4D7-FFBDB77755B1}"/>
              </a:ext>
            </a:extLst>
          </p:cNvPr>
          <p:cNvSpPr/>
          <p:nvPr/>
        </p:nvSpPr>
        <p:spPr>
          <a:xfrm>
            <a:off x="5275540" y="3068320"/>
            <a:ext cx="1154604" cy="392529"/>
          </a:xfrm>
          <a:prstGeom prst="wedgeRectCallout">
            <a:avLst>
              <a:gd name="adj1" fmla="val 15470"/>
              <a:gd name="adj2" fmla="val 126000"/>
            </a:avLst>
          </a:prstGeom>
          <a:solidFill>
            <a:schemeClr val="bg1"/>
          </a:solid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CMU Sans Serif" panose="02000603000000000000" pitchFamily="2" charset="0"/>
                <a:ea typeface="CMU Sans Serif" panose="02000603000000000000" pitchFamily="2" charset="0"/>
                <a:cs typeface="CMU Sans Serif" panose="02000603000000000000" pitchFamily="2" charset="0"/>
              </a:rPr>
              <a:t>Trust in Bureaucrat</a:t>
            </a:r>
          </a:p>
        </p:txBody>
      </p:sp>
      <p:sp>
        <p:nvSpPr>
          <p:cNvPr id="8" name="Speech Bubble: Rectangle 7">
            <a:extLst>
              <a:ext uri="{FF2B5EF4-FFF2-40B4-BE49-F238E27FC236}">
                <a16:creationId xmlns:a16="http://schemas.microsoft.com/office/drawing/2014/main" id="{C8C37B76-13C7-6E27-403D-9A065C412945}"/>
              </a:ext>
            </a:extLst>
          </p:cNvPr>
          <p:cNvSpPr/>
          <p:nvPr/>
        </p:nvSpPr>
        <p:spPr>
          <a:xfrm>
            <a:off x="6635670" y="3036470"/>
            <a:ext cx="1031320" cy="392529"/>
          </a:xfrm>
          <a:prstGeom prst="wedgeRectCallout">
            <a:avLst>
              <a:gd name="adj1" fmla="val -23620"/>
              <a:gd name="adj2" fmla="val 142947"/>
            </a:avLst>
          </a:prstGeom>
          <a:solidFill>
            <a:schemeClr val="bg1"/>
          </a:solid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CMU Sans Serif" panose="02000603000000000000" pitchFamily="2" charset="0"/>
                <a:ea typeface="CMU Sans Serif" panose="02000603000000000000" pitchFamily="2" charset="0"/>
                <a:cs typeface="CMU Sans Serif" panose="02000603000000000000" pitchFamily="2" charset="0"/>
              </a:rPr>
              <a:t>Trust in Municipality</a:t>
            </a:r>
          </a:p>
        </p:txBody>
      </p:sp>
    </p:spTree>
    <p:extLst>
      <p:ext uri="{BB962C8B-B14F-4D97-AF65-F5344CB8AC3E}">
        <p14:creationId xmlns:p14="http://schemas.microsoft.com/office/powerpoint/2010/main" val="283605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E6EEF0-9F02-8CBD-2C52-3039F85BF381}"/>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826460-86C4-36E8-3DD8-D7E2AC506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1F599C4-BEB9-8566-7E6A-19E0A27550F9}"/>
              </a:ext>
            </a:extLst>
          </p:cNvPr>
          <p:cNvSpPr>
            <a:spLocks noGrp="1"/>
          </p:cNvSpPr>
          <p:nvPr>
            <p:ph type="title"/>
          </p:nvPr>
        </p:nvSpPr>
        <p:spPr>
          <a:xfrm>
            <a:off x="210422" y="194941"/>
            <a:ext cx="5588494" cy="1014263"/>
          </a:xfrm>
        </p:spPr>
        <p:txBody>
          <a:bodyPr vert="horz" lIns="91440" tIns="45720" rIns="91440" bIns="45720" rtlCol="0" anchor="b">
            <a:normAutofit/>
          </a:bodyPr>
          <a:lstStyle/>
          <a:p>
            <a:r>
              <a:rPr lang="en-US" sz="4800" kern="1200" dirty="0">
                <a:solidFill>
                  <a:schemeClr val="tx1"/>
                </a:solidFill>
                <a:latin typeface="DM Serif Display" pitchFamily="2" charset="0"/>
              </a:rPr>
              <a:t>Overall Findings</a:t>
            </a:r>
          </a:p>
        </p:txBody>
      </p:sp>
      <p:sp>
        <p:nvSpPr>
          <p:cNvPr id="14" name="Rectangle 13">
            <a:extLst>
              <a:ext uri="{FF2B5EF4-FFF2-40B4-BE49-F238E27FC236}">
                <a16:creationId xmlns:a16="http://schemas.microsoft.com/office/drawing/2014/main" id="{270F6FAA-96AA-C41D-5A86-B1E408464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D6F4C4A-4FE4-00A4-FEA1-8A95AB49F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B9FB67-FD4B-45AD-B548-7F5B10996587}"/>
              </a:ext>
            </a:extLst>
          </p:cNvPr>
          <p:cNvSpPr>
            <a:spLocks noGrp="1"/>
          </p:cNvSpPr>
          <p:nvPr>
            <p:ph sz="half" idx="1"/>
          </p:nvPr>
        </p:nvSpPr>
        <p:spPr>
          <a:xfrm>
            <a:off x="439893" y="1404144"/>
            <a:ext cx="4629947" cy="4580096"/>
          </a:xfrm>
        </p:spPr>
        <p:txBody>
          <a:bodyPr>
            <a:normAutofit lnSpcReduction="10000"/>
          </a:bodyPr>
          <a:lstStyle/>
          <a:p>
            <a:pPr marL="285750">
              <a:lnSpc>
                <a:spcPct val="110000"/>
              </a:lnSpc>
            </a:pPr>
            <a:r>
              <a:rPr lang="en-US" sz="1800" dirty="0">
                <a:latin typeface="CMU Sans Serif" panose="02000603000000000000" pitchFamily="2" charset="0"/>
                <a:ea typeface="CMU Sans Serif" panose="02000603000000000000" pitchFamily="2" charset="0"/>
                <a:cs typeface="CMU Sans Serif" panose="02000603000000000000" pitchFamily="2" charset="0"/>
              </a:rPr>
              <a:t>The level of trust in the bureaucrat and the municipality increases based both on </a:t>
            </a:r>
            <a:r>
              <a:rPr lang="en-US" sz="1800" dirty="0" err="1">
                <a:latin typeface="CMU Sans Serif" panose="02000603000000000000" pitchFamily="2" charset="0"/>
                <a:ea typeface="CMU Sans Serif" panose="02000603000000000000" pitchFamily="2" charset="0"/>
                <a:cs typeface="CMU Sans Serif" panose="02000603000000000000" pitchFamily="2" charset="0"/>
              </a:rPr>
              <a:t>favourable</a:t>
            </a:r>
            <a:r>
              <a:rPr lang="en-US" sz="1800" dirty="0">
                <a:latin typeface="CMU Sans Serif" panose="02000603000000000000" pitchFamily="2" charset="0"/>
                <a:ea typeface="CMU Sans Serif" panose="02000603000000000000" pitchFamily="2" charset="0"/>
                <a:cs typeface="CMU Sans Serif" panose="02000603000000000000" pitchFamily="2" charset="0"/>
              </a:rPr>
              <a:t> outcomes and on warmth</a:t>
            </a:r>
          </a:p>
          <a:p>
            <a:pPr marL="285750">
              <a:lnSpc>
                <a:spcPct val="110000"/>
              </a:lnSpc>
            </a:pPr>
            <a:r>
              <a:rPr lang="en-US" sz="1800" dirty="0" err="1">
                <a:latin typeface="CMU Sans Serif" panose="02000603000000000000" pitchFamily="2" charset="0"/>
                <a:ea typeface="CMU Sans Serif" panose="02000603000000000000" pitchFamily="2" charset="0"/>
                <a:cs typeface="CMU Sans Serif" panose="02000603000000000000" pitchFamily="2" charset="0"/>
              </a:rPr>
              <a:t>Favourable</a:t>
            </a:r>
            <a:r>
              <a:rPr lang="en-US" sz="1800" dirty="0">
                <a:latin typeface="CMU Sans Serif" panose="02000603000000000000" pitchFamily="2" charset="0"/>
                <a:ea typeface="CMU Sans Serif" panose="02000603000000000000" pitchFamily="2" charset="0"/>
                <a:cs typeface="CMU Sans Serif" panose="02000603000000000000" pitchFamily="2" charset="0"/>
              </a:rPr>
              <a:t> outcome has a higher impact on trust than warmth in both cases</a:t>
            </a:r>
          </a:p>
          <a:p>
            <a:pPr marL="285750">
              <a:lnSpc>
                <a:spcPct val="110000"/>
              </a:lnSpc>
            </a:pPr>
            <a:r>
              <a:rPr lang="en-US" sz="1800" dirty="0">
                <a:latin typeface="CMU Sans Serif" panose="02000603000000000000" pitchFamily="2" charset="0"/>
                <a:ea typeface="CMU Sans Serif" panose="02000603000000000000" pitchFamily="2" charset="0"/>
                <a:cs typeface="CMU Sans Serif" panose="02000603000000000000" pitchFamily="2" charset="0"/>
              </a:rPr>
              <a:t>Results for the bureaucrat and the municipality are similar</a:t>
            </a:r>
          </a:p>
          <a:p>
            <a:pPr marL="57150" indent="0">
              <a:lnSpc>
                <a:spcPct val="110000"/>
              </a:lnSpc>
              <a:buNone/>
            </a:pPr>
            <a:endParaRPr lang="en-US" sz="1800" dirty="0">
              <a:latin typeface="CMU Sans Serif" panose="02000603000000000000" pitchFamily="2" charset="0"/>
              <a:ea typeface="CMU Sans Serif" panose="02000603000000000000" pitchFamily="2" charset="0"/>
              <a:cs typeface="CMU Sans Serif" panose="02000603000000000000" pitchFamily="2" charset="0"/>
            </a:endParaRPr>
          </a:p>
          <a:p>
            <a:pPr marL="57150" indent="0">
              <a:lnSpc>
                <a:spcPct val="110000"/>
              </a:lnSpc>
              <a:buNone/>
            </a:pPr>
            <a:r>
              <a:rPr lang="en-US" sz="1800" dirty="0">
                <a:latin typeface="CMU Sans Serif" panose="02000603000000000000" pitchFamily="2" charset="0"/>
                <a:ea typeface="CMU Sans Serif" panose="02000603000000000000" pitchFamily="2" charset="0"/>
                <a:cs typeface="CMU Sans Serif" panose="02000603000000000000" pitchFamily="2" charset="0"/>
              </a:rPr>
              <a:t>Hansen concludes that:</a:t>
            </a:r>
          </a:p>
          <a:p>
            <a:pPr marL="57150" indent="0">
              <a:lnSpc>
                <a:spcPct val="110000"/>
              </a:lnSpc>
              <a:buNone/>
            </a:pPr>
            <a:r>
              <a:rPr lang="en-US" sz="1800" dirty="0">
                <a:latin typeface="CMU Sans Serif" panose="02000603000000000000" pitchFamily="2" charset="0"/>
                <a:ea typeface="CMU Sans Serif" panose="02000603000000000000" pitchFamily="2" charset="0"/>
                <a:cs typeface="CMU Sans Serif" panose="02000603000000000000" pitchFamily="2" charset="0"/>
              </a:rPr>
              <a:t> </a:t>
            </a:r>
            <a:r>
              <a:rPr lang="en-US" sz="1800" b="1" dirty="0">
                <a:latin typeface="CMU Sans Serif" panose="02000603000000000000" pitchFamily="2" charset="0"/>
                <a:ea typeface="CMU Sans Serif" panose="02000603000000000000" pitchFamily="2" charset="0"/>
                <a:cs typeface="CMU Sans Serif" panose="02000603000000000000" pitchFamily="2" charset="0"/>
              </a:rPr>
              <a:t>“</a:t>
            </a:r>
            <a:r>
              <a:rPr lang="en-US" sz="1800" b="1" i="1" dirty="0">
                <a:latin typeface="CMU Sans Serif" panose="02000603000000000000" pitchFamily="2" charset="0"/>
                <a:ea typeface="CMU Sans Serif" panose="02000603000000000000" pitchFamily="2" charset="0"/>
                <a:cs typeface="CMU Sans Serif" panose="02000603000000000000" pitchFamily="2" charset="0"/>
              </a:rPr>
              <a:t>public leaders should be concerned about whether their employees behave in a warm manner if they want to build greater trust</a:t>
            </a:r>
            <a:r>
              <a:rPr lang="en-US" sz="1800" b="1" dirty="0">
                <a:latin typeface="CMU Sans Serif" panose="02000603000000000000" pitchFamily="2" charset="0"/>
                <a:ea typeface="CMU Sans Serif" panose="02000603000000000000" pitchFamily="2" charset="0"/>
                <a:cs typeface="CMU Sans Serif" panose="02000603000000000000" pitchFamily="2" charset="0"/>
              </a:rPr>
              <a:t>”</a:t>
            </a:r>
          </a:p>
          <a:p>
            <a:pPr marL="57150" indent="0">
              <a:lnSpc>
                <a:spcPct val="110000"/>
              </a:lnSpc>
              <a:buNone/>
            </a:pPr>
            <a:endParaRPr lang="en-US" sz="1800" b="1"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20" name="Content Placeholder 19" descr="A screenshot of a graph&#10;&#10;AI-generated content may be incorrect.">
            <a:extLst>
              <a:ext uri="{FF2B5EF4-FFF2-40B4-BE49-F238E27FC236}">
                <a16:creationId xmlns:a16="http://schemas.microsoft.com/office/drawing/2014/main" id="{93CF0A59-230F-5D82-9984-032516760616}"/>
              </a:ext>
            </a:extLst>
          </p:cNvPr>
          <p:cNvPicPr>
            <a:picLocks noChangeAspect="1"/>
          </p:cNvPicPr>
          <p:nvPr/>
        </p:nvPicPr>
        <p:blipFill>
          <a:blip r:embed="rId3"/>
          <a:stretch>
            <a:fillRect/>
          </a:stretch>
        </p:blipFill>
        <p:spPr>
          <a:xfrm>
            <a:off x="7127378" y="676487"/>
            <a:ext cx="5064622" cy="5505025"/>
          </a:xfrm>
          <a:prstGeom prst="rect">
            <a:avLst/>
          </a:prstGeom>
        </p:spPr>
      </p:pic>
      <p:sp>
        <p:nvSpPr>
          <p:cNvPr id="2" name="TextBox 1">
            <a:extLst>
              <a:ext uri="{FF2B5EF4-FFF2-40B4-BE49-F238E27FC236}">
                <a16:creationId xmlns:a16="http://schemas.microsoft.com/office/drawing/2014/main" id="{57A3D2D5-5F44-470B-D2BE-40F91D75E93F}"/>
              </a:ext>
            </a:extLst>
          </p:cNvPr>
          <p:cNvSpPr txBox="1"/>
          <p:nvPr/>
        </p:nvSpPr>
        <p:spPr>
          <a:xfrm>
            <a:off x="6096000" y="1857395"/>
            <a:ext cx="1503680" cy="307777"/>
          </a:xfrm>
          <a:prstGeom prst="rect">
            <a:avLst/>
          </a:prstGeom>
          <a:noFill/>
        </p:spPr>
        <p:txBody>
          <a:bodyPr wrap="square" rtlCol="0">
            <a:spAutoFit/>
          </a:bodyPr>
          <a:lstStyle/>
          <a:p>
            <a:r>
              <a:rPr lang="en-GB" sz="1400" dirty="0">
                <a:latin typeface="DM Serif Display" pitchFamily="2" charset="0"/>
              </a:rPr>
              <a:t>Bureaucrat</a:t>
            </a:r>
          </a:p>
        </p:txBody>
      </p:sp>
      <p:sp>
        <p:nvSpPr>
          <p:cNvPr id="5" name="TextBox 4">
            <a:extLst>
              <a:ext uri="{FF2B5EF4-FFF2-40B4-BE49-F238E27FC236}">
                <a16:creationId xmlns:a16="http://schemas.microsoft.com/office/drawing/2014/main" id="{A662DA95-BED3-9AA0-1CF0-F9ED1D0F068B}"/>
              </a:ext>
            </a:extLst>
          </p:cNvPr>
          <p:cNvSpPr txBox="1"/>
          <p:nvPr/>
        </p:nvSpPr>
        <p:spPr>
          <a:xfrm>
            <a:off x="5953304" y="4385052"/>
            <a:ext cx="1503680" cy="307777"/>
          </a:xfrm>
          <a:prstGeom prst="rect">
            <a:avLst/>
          </a:prstGeom>
          <a:noFill/>
        </p:spPr>
        <p:txBody>
          <a:bodyPr wrap="square" rtlCol="0">
            <a:spAutoFit/>
          </a:bodyPr>
          <a:lstStyle/>
          <a:p>
            <a:r>
              <a:rPr lang="en-GB" sz="1400" dirty="0">
                <a:latin typeface="DM Serif Display" pitchFamily="2" charset="0"/>
              </a:rPr>
              <a:t>Municipality </a:t>
            </a:r>
          </a:p>
        </p:txBody>
      </p:sp>
      <p:sp>
        <p:nvSpPr>
          <p:cNvPr id="6" name="TextBox 5">
            <a:extLst>
              <a:ext uri="{FF2B5EF4-FFF2-40B4-BE49-F238E27FC236}">
                <a16:creationId xmlns:a16="http://schemas.microsoft.com/office/drawing/2014/main" id="{68BC01B2-ACC6-B0C9-5DE7-2823A57BB608}"/>
              </a:ext>
            </a:extLst>
          </p:cNvPr>
          <p:cNvSpPr txBox="1"/>
          <p:nvPr/>
        </p:nvSpPr>
        <p:spPr>
          <a:xfrm>
            <a:off x="10513102" y="457200"/>
            <a:ext cx="1503680" cy="307777"/>
          </a:xfrm>
          <a:prstGeom prst="rect">
            <a:avLst/>
          </a:prstGeom>
          <a:noFill/>
        </p:spPr>
        <p:txBody>
          <a:bodyPr wrap="square" rtlCol="0">
            <a:spAutoFit/>
          </a:bodyPr>
          <a:lstStyle/>
          <a:p>
            <a:r>
              <a:rPr lang="en-GB" sz="1400" dirty="0">
                <a:latin typeface="DM Serif Display" pitchFamily="2" charset="0"/>
              </a:rPr>
              <a:t>Warm</a:t>
            </a:r>
          </a:p>
        </p:txBody>
      </p:sp>
      <p:sp>
        <p:nvSpPr>
          <p:cNvPr id="7" name="TextBox 6">
            <a:extLst>
              <a:ext uri="{FF2B5EF4-FFF2-40B4-BE49-F238E27FC236}">
                <a16:creationId xmlns:a16="http://schemas.microsoft.com/office/drawing/2014/main" id="{F2EE0424-9FAF-0716-526B-3E7B92ECB507}"/>
              </a:ext>
            </a:extLst>
          </p:cNvPr>
          <p:cNvSpPr txBox="1"/>
          <p:nvPr/>
        </p:nvSpPr>
        <p:spPr>
          <a:xfrm>
            <a:off x="8243618" y="457200"/>
            <a:ext cx="1503680" cy="307777"/>
          </a:xfrm>
          <a:prstGeom prst="rect">
            <a:avLst/>
          </a:prstGeom>
          <a:noFill/>
        </p:spPr>
        <p:txBody>
          <a:bodyPr wrap="square" rtlCol="0">
            <a:spAutoFit/>
          </a:bodyPr>
          <a:lstStyle/>
          <a:p>
            <a:r>
              <a:rPr lang="en-GB" sz="1400" dirty="0">
                <a:latin typeface="DM Serif Display" pitchFamily="2" charset="0"/>
              </a:rPr>
              <a:t>Not Warm </a:t>
            </a:r>
          </a:p>
        </p:txBody>
      </p:sp>
    </p:spTree>
    <p:extLst>
      <p:ext uri="{BB962C8B-B14F-4D97-AF65-F5344CB8AC3E}">
        <p14:creationId xmlns:p14="http://schemas.microsoft.com/office/powerpoint/2010/main" val="1971965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BCB1478-199E-687F-C052-924337C8D6EE}"/>
              </a:ext>
            </a:extLst>
          </p:cNvPr>
          <p:cNvSpPr>
            <a:spLocks noGrp="1"/>
          </p:cNvSpPr>
          <p:nvPr>
            <p:ph type="title"/>
          </p:nvPr>
        </p:nvSpPr>
        <p:spPr>
          <a:xfrm>
            <a:off x="164122" y="227924"/>
            <a:ext cx="4199533" cy="1014263"/>
          </a:xfrm>
        </p:spPr>
        <p:txBody>
          <a:bodyPr vert="horz" lIns="91440" tIns="45720" rIns="91440" bIns="45720" rtlCol="0" anchor="b">
            <a:normAutofit/>
          </a:bodyPr>
          <a:lstStyle/>
          <a:p>
            <a:r>
              <a:rPr lang="en-US" sz="4800" kern="1200" dirty="0">
                <a:solidFill>
                  <a:schemeClr val="tx1"/>
                </a:solidFill>
                <a:latin typeface="DM Serif Display" pitchFamily="2" charset="0"/>
              </a:rPr>
              <a:t>OLS Results</a:t>
            </a:r>
          </a:p>
        </p:txBody>
      </p:sp>
      <p:sp>
        <p:nvSpPr>
          <p:cNvPr id="6" name="Content Placeholder 5">
            <a:extLst>
              <a:ext uri="{FF2B5EF4-FFF2-40B4-BE49-F238E27FC236}">
                <a16:creationId xmlns:a16="http://schemas.microsoft.com/office/drawing/2014/main" id="{3105E852-38E2-5CFC-BA22-863AC7208CAA}"/>
              </a:ext>
            </a:extLst>
          </p:cNvPr>
          <p:cNvSpPr>
            <a:spLocks noGrp="1"/>
          </p:cNvSpPr>
          <p:nvPr>
            <p:ph sz="half" idx="2"/>
          </p:nvPr>
        </p:nvSpPr>
        <p:spPr>
          <a:xfrm>
            <a:off x="215882" y="1470111"/>
            <a:ext cx="3606836" cy="4456127"/>
          </a:xfrm>
        </p:spPr>
        <p:txBody>
          <a:bodyPr vert="horz" lIns="91440" tIns="45720" rIns="91440" bIns="45720" rtlCol="0" anchor="t">
            <a:normAutofit/>
          </a:bodyPr>
          <a:lstStyle/>
          <a:p>
            <a:pPr marL="285750">
              <a:lnSpc>
                <a:spcPct val="100000"/>
              </a:lnSpc>
            </a:pPr>
            <a:r>
              <a:rPr lang="en-US" sz="1800" dirty="0">
                <a:latin typeface="CMU Sans Serif" panose="02000603000000000000" pitchFamily="2" charset="0"/>
                <a:ea typeface="CMU Sans Serif" panose="02000603000000000000" pitchFamily="2" charset="0"/>
                <a:cs typeface="CMU Sans Serif" panose="02000603000000000000" pitchFamily="2" charset="0"/>
              </a:rPr>
              <a:t>Positive outcome significantly increases level of trust in both bureaucrat and municipality by 18.8% points and  17.9% points respectively </a:t>
            </a:r>
            <a:r>
              <a:rPr lang="en-GB" sz="1800" dirty="0">
                <a:latin typeface="CMU Sans Serif" panose="02000603000000000000" pitchFamily="2" charset="0"/>
                <a:ea typeface="CMU Sans Serif" panose="02000603000000000000" pitchFamily="2" charset="0"/>
                <a:cs typeface="CMU Sans Serif" panose="02000603000000000000" pitchFamily="2" charset="0"/>
              </a:rPr>
              <a:t>→  </a:t>
            </a:r>
            <a:r>
              <a:rPr lang="en-GB" sz="1800" b="1" dirty="0">
                <a:latin typeface="CMU Sans Serif" panose="02000603000000000000" pitchFamily="2" charset="0"/>
                <a:ea typeface="CMU Sans Serif" panose="02000603000000000000" pitchFamily="2" charset="0"/>
                <a:cs typeface="CMU Sans Serif" panose="02000603000000000000" pitchFamily="2" charset="0"/>
              </a:rPr>
              <a:t>supporting H1</a:t>
            </a:r>
            <a:r>
              <a:rPr lang="en-US" sz="1800" b="1" dirty="0">
                <a:latin typeface="CMU Sans Serif" panose="02000603000000000000" pitchFamily="2" charset="0"/>
                <a:ea typeface="CMU Sans Serif" panose="02000603000000000000" pitchFamily="2" charset="0"/>
                <a:cs typeface="CMU Sans Serif" panose="02000603000000000000" pitchFamily="2" charset="0"/>
              </a:rPr>
              <a:t> </a:t>
            </a:r>
          </a:p>
          <a:p>
            <a:pPr marL="285750">
              <a:lnSpc>
                <a:spcPct val="100000"/>
              </a:lnSpc>
            </a:pPr>
            <a:r>
              <a:rPr lang="en-US" sz="1800" dirty="0">
                <a:latin typeface="CMU Sans Serif" panose="02000603000000000000" pitchFamily="2" charset="0"/>
                <a:ea typeface="CMU Sans Serif" panose="02000603000000000000" pitchFamily="2" charset="0"/>
                <a:cs typeface="CMU Sans Serif" panose="02000603000000000000" pitchFamily="2" charset="0"/>
              </a:rPr>
              <a:t>The negative effect of outcome is not reduced when bureaucrats showed high warmth versus low warmth, as interaction terms are not significant for either outcome </a:t>
            </a:r>
            <a:r>
              <a:rPr lang="en-GB" sz="1800" dirty="0">
                <a:latin typeface="CMU Sans Serif" panose="02000603000000000000" pitchFamily="2" charset="0"/>
                <a:ea typeface="CMU Sans Serif" panose="02000603000000000000" pitchFamily="2" charset="0"/>
                <a:cs typeface="CMU Sans Serif" panose="02000603000000000000" pitchFamily="2" charset="0"/>
              </a:rPr>
              <a:t>→  </a:t>
            </a:r>
            <a:r>
              <a:rPr lang="en-GB" sz="1800" b="1" dirty="0">
                <a:latin typeface="CMU Sans Serif" panose="02000603000000000000" pitchFamily="2" charset="0"/>
                <a:ea typeface="CMU Sans Serif" panose="02000603000000000000" pitchFamily="2" charset="0"/>
                <a:cs typeface="CMU Sans Serif" panose="02000603000000000000" pitchFamily="2" charset="0"/>
              </a:rPr>
              <a:t>not supporting </a:t>
            </a:r>
            <a:r>
              <a:rPr lang="en-US" sz="1800" b="1" dirty="0">
                <a:latin typeface="CMU Sans Serif" panose="02000603000000000000" pitchFamily="2" charset="0"/>
                <a:ea typeface="CMU Sans Serif" panose="02000603000000000000" pitchFamily="2" charset="0"/>
                <a:cs typeface="CMU Sans Serif" panose="02000603000000000000" pitchFamily="2" charset="0"/>
              </a:rPr>
              <a:t>H2</a:t>
            </a:r>
          </a:p>
          <a:p>
            <a:pPr marL="57150" indent="0">
              <a:lnSpc>
                <a:spcPct val="100000"/>
              </a:lnSpc>
              <a:buNone/>
            </a:pPr>
            <a:endParaRPr lang="en-US" sz="18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7" name="Content Placeholder 14" descr="A table of results with numbers&#10;&#10;AI-generated content may be incorrect.">
            <a:extLst>
              <a:ext uri="{FF2B5EF4-FFF2-40B4-BE49-F238E27FC236}">
                <a16:creationId xmlns:a16="http://schemas.microsoft.com/office/drawing/2014/main" id="{246EF6BF-AF4F-CFC5-0D10-8CC02B19D200}"/>
              </a:ext>
            </a:extLst>
          </p:cNvPr>
          <p:cNvPicPr>
            <a:picLocks noGrp="1" noChangeAspect="1"/>
          </p:cNvPicPr>
          <p:nvPr>
            <p:ph sz="half" idx="1"/>
          </p:nvPr>
        </p:nvPicPr>
        <p:blipFill>
          <a:blip r:embed="rId3"/>
          <a:stretch>
            <a:fillRect/>
          </a:stretch>
        </p:blipFill>
        <p:spPr>
          <a:xfrm>
            <a:off x="4081826" y="1258071"/>
            <a:ext cx="7894292" cy="4341858"/>
          </a:xfrm>
          <a:prstGeom prst="rect">
            <a:avLst/>
          </a:prstGeom>
          <a:ln w="19050">
            <a:solidFill>
              <a:schemeClr val="accent5">
                <a:lumMod val="75000"/>
              </a:schemeClr>
            </a:solidFill>
          </a:ln>
        </p:spPr>
      </p:pic>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118C3BF-AC6F-CDAA-3CAF-B018FF46A38A}"/>
              </a:ext>
            </a:extLst>
          </p:cNvPr>
          <p:cNvSpPr txBox="1"/>
          <p:nvPr/>
        </p:nvSpPr>
        <p:spPr>
          <a:xfrm>
            <a:off x="9584699" y="6042567"/>
            <a:ext cx="2499360" cy="307777"/>
          </a:xfrm>
          <a:prstGeom prst="rect">
            <a:avLst/>
          </a:prstGeom>
          <a:noFill/>
        </p:spPr>
        <p:txBody>
          <a:bodyPr wrap="square" rtlCol="0">
            <a:spAutoFit/>
          </a:bodyPr>
          <a:lstStyle/>
          <a:p>
            <a:r>
              <a:rPr lang="en-GB" sz="1400" dirty="0">
                <a:latin typeface="DM Serif Display" pitchFamily="2" charset="0"/>
              </a:rPr>
              <a:t>including interaction term</a:t>
            </a:r>
          </a:p>
        </p:txBody>
      </p:sp>
      <p:sp>
        <p:nvSpPr>
          <p:cNvPr id="5" name="Left Brace 4">
            <a:extLst>
              <a:ext uri="{FF2B5EF4-FFF2-40B4-BE49-F238E27FC236}">
                <a16:creationId xmlns:a16="http://schemas.microsoft.com/office/drawing/2014/main" id="{9FDE7625-C722-2D08-EF79-92F863E72419}"/>
              </a:ext>
            </a:extLst>
          </p:cNvPr>
          <p:cNvSpPr/>
          <p:nvPr/>
        </p:nvSpPr>
        <p:spPr>
          <a:xfrm rot="16200000">
            <a:off x="10477235" y="4609232"/>
            <a:ext cx="363754" cy="2634012"/>
          </a:xfrm>
          <a:prstGeom prst="leftBrace">
            <a:avLst>
              <a:gd name="adj1" fmla="val 8333"/>
              <a:gd name="adj2" fmla="val 49691"/>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Left Brace 7">
            <a:extLst>
              <a:ext uri="{FF2B5EF4-FFF2-40B4-BE49-F238E27FC236}">
                <a16:creationId xmlns:a16="http://schemas.microsoft.com/office/drawing/2014/main" id="{7EDE7A62-A7B0-E0A1-41E3-32F991F17AF9}"/>
              </a:ext>
            </a:extLst>
          </p:cNvPr>
          <p:cNvSpPr/>
          <p:nvPr/>
        </p:nvSpPr>
        <p:spPr>
          <a:xfrm rot="16200000">
            <a:off x="7388595" y="4664636"/>
            <a:ext cx="363754" cy="2634012"/>
          </a:xfrm>
          <a:prstGeom prst="leftBrace">
            <a:avLst>
              <a:gd name="adj1" fmla="val 8333"/>
              <a:gd name="adj2" fmla="val 49691"/>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Box 8">
            <a:extLst>
              <a:ext uri="{FF2B5EF4-FFF2-40B4-BE49-F238E27FC236}">
                <a16:creationId xmlns:a16="http://schemas.microsoft.com/office/drawing/2014/main" id="{E2CB1B75-0172-A309-1046-724F38C485B4}"/>
              </a:ext>
            </a:extLst>
          </p:cNvPr>
          <p:cNvSpPr txBox="1"/>
          <p:nvPr/>
        </p:nvSpPr>
        <p:spPr>
          <a:xfrm>
            <a:off x="6842746" y="6125472"/>
            <a:ext cx="2499360" cy="307777"/>
          </a:xfrm>
          <a:prstGeom prst="rect">
            <a:avLst/>
          </a:prstGeom>
          <a:noFill/>
        </p:spPr>
        <p:txBody>
          <a:bodyPr wrap="square" rtlCol="0">
            <a:spAutoFit/>
          </a:bodyPr>
          <a:lstStyle/>
          <a:p>
            <a:r>
              <a:rPr lang="en-GB" sz="1400" dirty="0">
                <a:latin typeface="DM Serif Display" pitchFamily="2" charset="0"/>
              </a:rPr>
              <a:t>simple model</a:t>
            </a:r>
          </a:p>
        </p:txBody>
      </p:sp>
    </p:spTree>
    <p:extLst>
      <p:ext uri="{BB962C8B-B14F-4D97-AF65-F5344CB8AC3E}">
        <p14:creationId xmlns:p14="http://schemas.microsoft.com/office/powerpoint/2010/main" val="138695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46F4-5655-65AB-DB24-B8DD31B4D7C6}"/>
              </a:ext>
            </a:extLst>
          </p:cNvPr>
          <p:cNvSpPr>
            <a:spLocks noGrp="1"/>
          </p:cNvSpPr>
          <p:nvPr>
            <p:ph type="title"/>
          </p:nvPr>
        </p:nvSpPr>
        <p:spPr>
          <a:xfrm>
            <a:off x="387620" y="127819"/>
            <a:ext cx="9589500" cy="973394"/>
          </a:xfrm>
        </p:spPr>
        <p:txBody>
          <a:bodyPr anchor="t">
            <a:normAutofit/>
          </a:bodyPr>
          <a:lstStyle/>
          <a:p>
            <a:r>
              <a:rPr lang="en-GB" sz="3600" dirty="0"/>
              <a:t>Extension - Ordered Multinomial Regression</a:t>
            </a:r>
          </a:p>
        </p:txBody>
      </p:sp>
      <p:cxnSp>
        <p:nvCxnSpPr>
          <p:cNvPr id="44" name="Straight Connector 4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31DCDDC-8B7D-D9D2-E7BF-8E8D495228FA}"/>
              </a:ext>
            </a:extLst>
          </p:cNvPr>
          <p:cNvSpPr>
            <a:spLocks noGrp="1"/>
          </p:cNvSpPr>
          <p:nvPr>
            <p:ph idx="1"/>
          </p:nvPr>
        </p:nvSpPr>
        <p:spPr>
          <a:xfrm>
            <a:off x="213360" y="1050741"/>
            <a:ext cx="11199278" cy="5679440"/>
          </a:xfrm>
        </p:spPr>
        <p:txBody>
          <a:bodyPr>
            <a:normAutofit/>
          </a:bodyPr>
          <a:lstStyle/>
          <a:p>
            <a:pPr marL="0" indent="0">
              <a:buNone/>
            </a:pPr>
            <a:r>
              <a:rPr lang="en-GB" sz="1800" b="1" dirty="0">
                <a:latin typeface="CMU Sans Serif" panose="02000603000000000000" pitchFamily="2" charset="0"/>
                <a:ea typeface="CMU Sans Serif" panose="02000603000000000000" pitchFamily="2" charset="0"/>
                <a:cs typeface="CMU Sans Serif" panose="02000603000000000000" pitchFamily="2" charset="0"/>
              </a:rPr>
              <a:t>Method</a:t>
            </a:r>
          </a:p>
          <a:p>
            <a:r>
              <a:rPr lang="en-GB" sz="1800" dirty="0">
                <a:latin typeface="CMU Sans Serif" panose="02000603000000000000" pitchFamily="2" charset="0"/>
                <a:ea typeface="CMU Sans Serif" panose="02000603000000000000" pitchFamily="2" charset="0"/>
                <a:cs typeface="CMU Sans Serif" panose="02000603000000000000" pitchFamily="2" charset="0"/>
              </a:rPr>
              <a:t>OLS assumes the outcome variable is continuous and unbounded but the 0-10 scale is ordinal and bounded</a:t>
            </a:r>
          </a:p>
          <a:p>
            <a:r>
              <a:rPr lang="en-GB" sz="1800" dirty="0">
                <a:latin typeface="CMU Sans Serif" panose="02000603000000000000" pitchFamily="2" charset="0"/>
                <a:ea typeface="CMU Sans Serif" panose="02000603000000000000" pitchFamily="2" charset="0"/>
                <a:cs typeface="CMU Sans Serif" panose="02000603000000000000" pitchFamily="2" charset="0"/>
              </a:rPr>
              <a:t>Four ordered multinomial regression models were run, treating the original outcomes levels 0-10 as separate categories on an ordinal scale </a:t>
            </a:r>
          </a:p>
          <a:p>
            <a:r>
              <a:rPr lang="en-GB" sz="1800" dirty="0">
                <a:latin typeface="CMU Sans Serif" panose="02000603000000000000" pitchFamily="2" charset="0"/>
                <a:ea typeface="CMU Sans Serif" panose="02000603000000000000" pitchFamily="2" charset="0"/>
                <a:cs typeface="CMU Sans Serif" panose="02000603000000000000" pitchFamily="2" charset="0"/>
              </a:rPr>
              <a:t>Regression coefficients are the change in the log-odds of being in a higher category in each treatment</a:t>
            </a: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endParaRPr lang="en-GB" sz="1800" dirty="0">
              <a:latin typeface="CMU Sans Serif" panose="02000603000000000000" pitchFamily="2" charset="0"/>
              <a:ea typeface="CMU Sans Serif" panose="02000603000000000000" pitchFamily="2" charset="0"/>
              <a:cs typeface="CMU Sans Serif" panose="02000603000000000000" pitchFamily="2" charset="0"/>
            </a:endParaRPr>
          </a:p>
          <a:p>
            <a:pPr marL="0" indent="0">
              <a:buNone/>
            </a:pPr>
            <a:r>
              <a:rPr lang="en-GB" sz="1800" b="1" dirty="0">
                <a:latin typeface="CMU Sans Serif" panose="02000603000000000000" pitchFamily="2" charset="0"/>
                <a:ea typeface="CMU Sans Serif" panose="02000603000000000000" pitchFamily="2" charset="0"/>
                <a:cs typeface="CMU Sans Serif" panose="02000603000000000000" pitchFamily="2" charset="0"/>
              </a:rPr>
              <a:t>Outcome</a:t>
            </a:r>
          </a:p>
          <a:p>
            <a:r>
              <a:rPr lang="en-GB" sz="1800" dirty="0">
                <a:latin typeface="CMU Sans Serif" panose="02000603000000000000" pitchFamily="2" charset="0"/>
                <a:ea typeface="CMU Sans Serif" panose="02000603000000000000" pitchFamily="2" charset="0"/>
                <a:cs typeface="CMU Sans Serif" panose="02000603000000000000" pitchFamily="2" charset="0"/>
              </a:rPr>
              <a:t>The positive impact of the treatments and insignificant interaction term are consistent with the OLS models</a:t>
            </a:r>
          </a:p>
        </p:txBody>
      </p:sp>
      <p:pic>
        <p:nvPicPr>
          <p:cNvPr id="9" name="Picture 8" descr="A table with numbers and a number of multinomials&#10;&#10;AI-generated content may be incorrect.">
            <a:extLst>
              <a:ext uri="{FF2B5EF4-FFF2-40B4-BE49-F238E27FC236}">
                <a16:creationId xmlns:a16="http://schemas.microsoft.com/office/drawing/2014/main" id="{09AB0E6F-9F81-352D-934B-9EE8AA3F9EC6}"/>
              </a:ext>
            </a:extLst>
          </p:cNvPr>
          <p:cNvPicPr>
            <a:picLocks noChangeAspect="1"/>
          </p:cNvPicPr>
          <p:nvPr/>
        </p:nvPicPr>
        <p:blipFill>
          <a:blip r:embed="rId3"/>
          <a:stretch>
            <a:fillRect/>
          </a:stretch>
        </p:blipFill>
        <p:spPr>
          <a:xfrm>
            <a:off x="1839436" y="3096964"/>
            <a:ext cx="7947126" cy="1887441"/>
          </a:xfrm>
          <a:prstGeom prst="rect">
            <a:avLst/>
          </a:prstGeom>
        </p:spPr>
      </p:pic>
    </p:spTree>
    <p:extLst>
      <p:ext uri="{BB962C8B-B14F-4D97-AF65-F5344CB8AC3E}">
        <p14:creationId xmlns:p14="http://schemas.microsoft.com/office/powerpoint/2010/main" val="286991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148F3-D15B-E742-E66C-42662C98E64A}"/>
              </a:ext>
            </a:extLst>
          </p:cNvPr>
          <p:cNvSpPr>
            <a:spLocks noGrp="1"/>
          </p:cNvSpPr>
          <p:nvPr>
            <p:ph type="title"/>
          </p:nvPr>
        </p:nvSpPr>
        <p:spPr>
          <a:xfrm>
            <a:off x="358816" y="0"/>
            <a:ext cx="11833184" cy="878116"/>
          </a:xfrm>
        </p:spPr>
        <p:txBody>
          <a:bodyPr>
            <a:normAutofit/>
          </a:bodyPr>
          <a:lstStyle/>
          <a:p>
            <a:r>
              <a:rPr lang="en-GB" sz="3600" dirty="0"/>
              <a:t>Extension - Ordered Multinomial Regression</a:t>
            </a:r>
          </a:p>
        </p:txBody>
      </p:sp>
      <p:sp>
        <p:nvSpPr>
          <p:cNvPr id="3" name="Content Placeholder 2">
            <a:extLst>
              <a:ext uri="{FF2B5EF4-FFF2-40B4-BE49-F238E27FC236}">
                <a16:creationId xmlns:a16="http://schemas.microsoft.com/office/drawing/2014/main" id="{237D34A5-80FE-8977-BAA6-B2599738FDDF}"/>
              </a:ext>
            </a:extLst>
          </p:cNvPr>
          <p:cNvSpPr>
            <a:spLocks noGrp="1"/>
          </p:cNvSpPr>
          <p:nvPr>
            <p:ph idx="1"/>
          </p:nvPr>
        </p:nvSpPr>
        <p:spPr>
          <a:xfrm>
            <a:off x="6833300" y="1075378"/>
            <a:ext cx="4563734" cy="2402668"/>
          </a:xfrm>
        </p:spPr>
        <p:txBody>
          <a:bodyPr>
            <a:normAutofit/>
          </a:bodyPr>
          <a:lstStyle/>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Predicted trust levels for each experimental group were calculated using the models predicted probabilities</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predicted trust values were similar to the experimental group means </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This approach validates OLS findings and makes predictions in original scale</a:t>
            </a:r>
          </a:p>
        </p:txBody>
      </p:sp>
      <p:pic>
        <p:nvPicPr>
          <p:cNvPr id="12" name="Picture 11" descr="A graph of different colored bars&#10;&#10;AI-generated content may be incorrect.">
            <a:extLst>
              <a:ext uri="{FF2B5EF4-FFF2-40B4-BE49-F238E27FC236}">
                <a16:creationId xmlns:a16="http://schemas.microsoft.com/office/drawing/2014/main" id="{ADEB4286-E3DF-C300-B96B-CAB23C07253D}"/>
              </a:ext>
            </a:extLst>
          </p:cNvPr>
          <p:cNvPicPr>
            <a:picLocks noChangeAspect="1"/>
          </p:cNvPicPr>
          <p:nvPr/>
        </p:nvPicPr>
        <p:blipFill>
          <a:blip r:embed="rId2"/>
          <a:stretch>
            <a:fillRect/>
          </a:stretch>
        </p:blipFill>
        <p:spPr>
          <a:xfrm>
            <a:off x="569688" y="1372990"/>
            <a:ext cx="5918662" cy="4779320"/>
          </a:xfrm>
          <a:prstGeom prst="rect">
            <a:avLst/>
          </a:prstGeom>
        </p:spPr>
      </p:pic>
      <p:pic>
        <p:nvPicPr>
          <p:cNvPr id="23" name="Picture 22" descr="A group of black text&#10;&#10;AI-generated content may be incorrect.">
            <a:extLst>
              <a:ext uri="{FF2B5EF4-FFF2-40B4-BE49-F238E27FC236}">
                <a16:creationId xmlns:a16="http://schemas.microsoft.com/office/drawing/2014/main" id="{960C9821-3D42-19EB-54B0-0DB226754925}"/>
              </a:ext>
            </a:extLst>
          </p:cNvPr>
          <p:cNvPicPr>
            <a:picLocks noChangeAspect="1"/>
          </p:cNvPicPr>
          <p:nvPr/>
        </p:nvPicPr>
        <p:blipFill>
          <a:blip r:embed="rId3"/>
          <a:stretch>
            <a:fillRect/>
          </a:stretch>
        </p:blipFill>
        <p:spPr>
          <a:xfrm>
            <a:off x="7412055" y="5596110"/>
            <a:ext cx="3301805" cy="1106105"/>
          </a:xfrm>
          <a:prstGeom prst="rect">
            <a:avLst/>
          </a:prstGeom>
        </p:spPr>
      </p:pic>
      <p:pic>
        <p:nvPicPr>
          <p:cNvPr id="7" name="Picture 6" descr="A table with numbers and text&#10;&#10;AI-generated content may be incorrect.">
            <a:extLst>
              <a:ext uri="{FF2B5EF4-FFF2-40B4-BE49-F238E27FC236}">
                <a16:creationId xmlns:a16="http://schemas.microsoft.com/office/drawing/2014/main" id="{87F5EA32-CBF4-21AF-E884-3848946CB9C0}"/>
              </a:ext>
            </a:extLst>
          </p:cNvPr>
          <p:cNvPicPr>
            <a:picLocks noChangeAspect="1"/>
          </p:cNvPicPr>
          <p:nvPr/>
        </p:nvPicPr>
        <p:blipFill>
          <a:blip r:embed="rId4"/>
          <a:srcRect t="24911" r="36733"/>
          <a:stretch>
            <a:fillRect/>
          </a:stretch>
        </p:blipFill>
        <p:spPr>
          <a:xfrm>
            <a:off x="7412055" y="4129812"/>
            <a:ext cx="3406225" cy="970243"/>
          </a:xfrm>
          <a:prstGeom prst="rect">
            <a:avLst/>
          </a:prstGeom>
        </p:spPr>
      </p:pic>
      <p:sp>
        <p:nvSpPr>
          <p:cNvPr id="4" name="TextBox 3">
            <a:extLst>
              <a:ext uri="{FF2B5EF4-FFF2-40B4-BE49-F238E27FC236}">
                <a16:creationId xmlns:a16="http://schemas.microsoft.com/office/drawing/2014/main" id="{C5298F30-CB9E-26DF-86AA-C5DD53A67661}"/>
              </a:ext>
            </a:extLst>
          </p:cNvPr>
          <p:cNvSpPr txBox="1"/>
          <p:nvPr/>
        </p:nvSpPr>
        <p:spPr>
          <a:xfrm>
            <a:off x="7307635" y="5226778"/>
            <a:ext cx="3905318" cy="369332"/>
          </a:xfrm>
          <a:prstGeom prst="rect">
            <a:avLst/>
          </a:prstGeom>
          <a:noFill/>
        </p:spPr>
        <p:txBody>
          <a:bodyPr wrap="square" rtlCol="0">
            <a:spAutoFit/>
          </a:bodyPr>
          <a:lstStyle/>
          <a:p>
            <a:r>
              <a:rPr lang="en-GB" dirty="0">
                <a:latin typeface="DM Serif Display" pitchFamily="2" charset="0"/>
              </a:rPr>
              <a:t>Experimental Group Trust Average</a:t>
            </a:r>
          </a:p>
        </p:txBody>
      </p:sp>
      <p:sp>
        <p:nvSpPr>
          <p:cNvPr id="5" name="TextBox 4">
            <a:extLst>
              <a:ext uri="{FF2B5EF4-FFF2-40B4-BE49-F238E27FC236}">
                <a16:creationId xmlns:a16="http://schemas.microsoft.com/office/drawing/2014/main" id="{A4E86C47-35AD-C192-F39E-B5810C7AAC6B}"/>
              </a:ext>
            </a:extLst>
          </p:cNvPr>
          <p:cNvSpPr txBox="1"/>
          <p:nvPr/>
        </p:nvSpPr>
        <p:spPr>
          <a:xfrm>
            <a:off x="7433808" y="3762650"/>
            <a:ext cx="3905318" cy="369332"/>
          </a:xfrm>
          <a:prstGeom prst="rect">
            <a:avLst/>
          </a:prstGeom>
          <a:noFill/>
        </p:spPr>
        <p:txBody>
          <a:bodyPr wrap="square" rtlCol="0">
            <a:spAutoFit/>
          </a:bodyPr>
          <a:lstStyle/>
          <a:p>
            <a:r>
              <a:rPr lang="en-GB" dirty="0">
                <a:latin typeface="DM Serif Display" pitchFamily="2" charset="0"/>
              </a:rPr>
              <a:t>Predicted  Group Trust Average</a:t>
            </a:r>
          </a:p>
        </p:txBody>
      </p:sp>
      <p:cxnSp>
        <p:nvCxnSpPr>
          <p:cNvPr id="8" name="Straight Connector 7">
            <a:extLst>
              <a:ext uri="{FF2B5EF4-FFF2-40B4-BE49-F238E27FC236}">
                <a16:creationId xmlns:a16="http://schemas.microsoft.com/office/drawing/2014/main" id="{97A081E9-11A8-04BD-6031-A85626DD17DE}"/>
              </a:ext>
            </a:extLst>
          </p:cNvPr>
          <p:cNvCxnSpPr>
            <a:cxnSpLocks/>
          </p:cNvCxnSpPr>
          <p:nvPr/>
        </p:nvCxnSpPr>
        <p:spPr>
          <a:xfrm>
            <a:off x="462988" y="830257"/>
            <a:ext cx="8866207"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603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B84957-DB0F-668D-AE2D-17D041EAADAB}"/>
              </a:ext>
            </a:extLst>
          </p:cNvPr>
          <p:cNvSpPr>
            <a:spLocks noGrp="1"/>
          </p:cNvSpPr>
          <p:nvPr>
            <p:ph type="title"/>
          </p:nvPr>
        </p:nvSpPr>
        <p:spPr>
          <a:xfrm>
            <a:off x="186651" y="-67181"/>
            <a:ext cx="12329652" cy="809170"/>
          </a:xfrm>
          <a:noFill/>
          <a:ln>
            <a:noFill/>
          </a:ln>
        </p:spPr>
        <p:txBody>
          <a:bodyPr anchor="b">
            <a:normAutofit/>
          </a:bodyPr>
          <a:lstStyle/>
          <a:p>
            <a:r>
              <a:rPr lang="en-GB" sz="3600" dirty="0"/>
              <a:t>Extension - Ordered Beta Regression</a:t>
            </a:r>
          </a:p>
        </p:txBody>
      </p:sp>
      <p:pic>
        <p:nvPicPr>
          <p:cNvPr id="19" name="Picture 18" descr="A screenshot of a graph&#10;&#10;AI-generated content may be incorrect.">
            <a:extLst>
              <a:ext uri="{FF2B5EF4-FFF2-40B4-BE49-F238E27FC236}">
                <a16:creationId xmlns:a16="http://schemas.microsoft.com/office/drawing/2014/main" id="{29F5565D-E9F3-97B1-EA03-28E9B924445E}"/>
              </a:ext>
            </a:extLst>
          </p:cNvPr>
          <p:cNvPicPr>
            <a:picLocks noChangeAspect="1"/>
          </p:cNvPicPr>
          <p:nvPr/>
        </p:nvPicPr>
        <p:blipFill>
          <a:blip r:embed="rId3"/>
          <a:stretch>
            <a:fillRect/>
          </a:stretch>
        </p:blipFill>
        <p:spPr>
          <a:xfrm>
            <a:off x="5877647" y="5241073"/>
            <a:ext cx="6131776" cy="1348989"/>
          </a:xfrm>
          <a:prstGeom prst="rect">
            <a:avLst/>
          </a:prstGeom>
        </p:spPr>
      </p:pic>
      <p:sp>
        <p:nvSpPr>
          <p:cNvPr id="26"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15FD65-E566-BE7F-355E-A043ECB11273}"/>
              </a:ext>
            </a:extLst>
          </p:cNvPr>
          <p:cNvSpPr>
            <a:spLocks noGrp="1"/>
          </p:cNvSpPr>
          <p:nvPr>
            <p:ph idx="1"/>
          </p:nvPr>
        </p:nvSpPr>
        <p:spPr>
          <a:xfrm>
            <a:off x="383458" y="2504819"/>
            <a:ext cx="5583398" cy="4334892"/>
          </a:xfrm>
        </p:spPr>
        <p:txBody>
          <a:bodyPr>
            <a:normAutofit lnSpcReduction="10000"/>
          </a:bodyPr>
          <a:lstStyle/>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Ordered Beta Regression is an alternative type of regression explicitly designed for outcome data that has an ordinal and bounded structure. </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It combines beta regression defined for any bounded continuous scale and the ordered logit that uses discrete categories. </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It is beneficial as it produces intelligible estimates that respect the bounds of the outcome variable</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package </a:t>
            </a:r>
            <a:r>
              <a:rPr lang="en-GB" sz="1800" i="1" dirty="0">
                <a:latin typeface="CMU Sans Serif" panose="02000603000000000000" pitchFamily="2" charset="0"/>
                <a:ea typeface="CMU Sans Serif" panose="02000603000000000000" pitchFamily="2" charset="0"/>
                <a:cs typeface="CMU Sans Serif" panose="02000603000000000000" pitchFamily="2" charset="0"/>
              </a:rPr>
              <a:t>’</a:t>
            </a:r>
            <a:r>
              <a:rPr lang="en-GB" sz="1800" i="1" dirty="0" err="1">
                <a:latin typeface="CMU Sans Serif" panose="02000603000000000000" pitchFamily="2" charset="0"/>
                <a:ea typeface="CMU Sans Serif" panose="02000603000000000000" pitchFamily="2" charset="0"/>
                <a:cs typeface="CMU Sans Serif" panose="02000603000000000000" pitchFamily="2" charset="0"/>
              </a:rPr>
              <a:t>ordbetareg</a:t>
            </a:r>
            <a:r>
              <a:rPr lang="en-GB" sz="1800" dirty="0">
                <a:latin typeface="CMU Sans Serif" panose="02000603000000000000" pitchFamily="2" charset="0"/>
                <a:ea typeface="CMU Sans Serif" panose="02000603000000000000" pitchFamily="2" charset="0"/>
                <a:cs typeface="CMU Sans Serif" panose="02000603000000000000" pitchFamily="2" charset="0"/>
              </a:rPr>
              <a:t>’ estimates a Bayesian implementation finding the posterior distribution (using a Markov chain Monte Carlo) </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predicted mean trust values for the groups were calculated from posterior predictions and show very similar prediction to the real means</a:t>
            </a:r>
          </a:p>
        </p:txBody>
      </p:sp>
      <p:pic>
        <p:nvPicPr>
          <p:cNvPr id="17" name="Picture 16" descr="A chart with red and blue dots&#10;&#10;AI-generated content may be incorrect.">
            <a:extLst>
              <a:ext uri="{FF2B5EF4-FFF2-40B4-BE49-F238E27FC236}">
                <a16:creationId xmlns:a16="http://schemas.microsoft.com/office/drawing/2014/main" id="{169EA93E-6403-F9EA-7CAC-0904AB5BBCF4}"/>
              </a:ext>
            </a:extLst>
          </p:cNvPr>
          <p:cNvPicPr>
            <a:picLocks noChangeAspect="1"/>
          </p:cNvPicPr>
          <p:nvPr/>
        </p:nvPicPr>
        <p:blipFill>
          <a:blip r:embed="rId4"/>
          <a:stretch>
            <a:fillRect/>
          </a:stretch>
        </p:blipFill>
        <p:spPr>
          <a:xfrm>
            <a:off x="6447503" y="1140214"/>
            <a:ext cx="4906297" cy="3765583"/>
          </a:xfrm>
          <a:prstGeom prst="rect">
            <a:avLst/>
          </a:prstGeom>
          <a:ln w="19050">
            <a:solidFill>
              <a:schemeClr val="accent5">
                <a:lumMod val="75000"/>
              </a:schemeClr>
            </a:solidFill>
          </a:ln>
        </p:spPr>
      </p:pic>
      <p:pic>
        <p:nvPicPr>
          <p:cNvPr id="10" name="Picture 9" descr="A screenshot of a computer code&#10;&#10;AI-generated content may be incorrect.">
            <a:extLst>
              <a:ext uri="{FF2B5EF4-FFF2-40B4-BE49-F238E27FC236}">
                <a16:creationId xmlns:a16="http://schemas.microsoft.com/office/drawing/2014/main" id="{DB8EC859-66D4-39D9-3A6C-E46D0BF05AA2}"/>
              </a:ext>
            </a:extLst>
          </p:cNvPr>
          <p:cNvPicPr>
            <a:picLocks noChangeAspect="1"/>
          </p:cNvPicPr>
          <p:nvPr/>
        </p:nvPicPr>
        <p:blipFill>
          <a:blip r:embed="rId5"/>
          <a:stretch>
            <a:fillRect/>
          </a:stretch>
        </p:blipFill>
        <p:spPr>
          <a:xfrm>
            <a:off x="955603" y="845357"/>
            <a:ext cx="4225997" cy="1299494"/>
          </a:xfrm>
          <a:prstGeom prst="rect">
            <a:avLst/>
          </a:prstGeom>
        </p:spPr>
      </p:pic>
    </p:spTree>
    <p:extLst>
      <p:ext uri="{BB962C8B-B14F-4D97-AF65-F5344CB8AC3E}">
        <p14:creationId xmlns:p14="http://schemas.microsoft.com/office/powerpoint/2010/main" val="3069715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53A63-AEC5-C806-277F-CE3E51185825}"/>
              </a:ext>
            </a:extLst>
          </p:cNvPr>
          <p:cNvSpPr>
            <a:spLocks noGrp="1"/>
          </p:cNvSpPr>
          <p:nvPr>
            <p:ph idx="1"/>
          </p:nvPr>
        </p:nvSpPr>
        <p:spPr>
          <a:xfrm>
            <a:off x="365760" y="1310640"/>
            <a:ext cx="5730240" cy="4572350"/>
          </a:xfrm>
        </p:spPr>
        <p:txBody>
          <a:bodyPr>
            <a:noAutofit/>
          </a:bodyPr>
          <a:lstStyle/>
          <a:p>
            <a:pPr>
              <a:lnSpc>
                <a:spcPct val="12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marginal effect of Warmth was calculated to understand the difference in expected trust when the warmth treatment is applied, holding the outcome favourability constant </a:t>
            </a:r>
          </a:p>
          <a:p>
            <a:pPr>
              <a:lnSpc>
                <a:spcPct val="12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results from the ordered beta predicted trust values (0-1) suggest effect of warmth increases trust in the  bureaucrat and the municipality by 0.16 and 0.15 points on average. </a:t>
            </a:r>
          </a:p>
          <a:p>
            <a:pPr>
              <a:lnSpc>
                <a:spcPct val="12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effect of warmth is slightly stronger in a favourable outcome scenario indicating that warmth may be more effective in positive contexts</a:t>
            </a:r>
          </a:p>
        </p:txBody>
      </p:sp>
      <p:pic>
        <p:nvPicPr>
          <p:cNvPr id="14" name="Picture 13">
            <a:extLst>
              <a:ext uri="{FF2B5EF4-FFF2-40B4-BE49-F238E27FC236}">
                <a16:creationId xmlns:a16="http://schemas.microsoft.com/office/drawing/2014/main" id="{C2A06625-3CF6-BF25-BA99-E7B62F8CAA4A}"/>
              </a:ext>
            </a:extLst>
          </p:cNvPr>
          <p:cNvPicPr>
            <a:picLocks noChangeAspect="1"/>
          </p:cNvPicPr>
          <p:nvPr/>
        </p:nvPicPr>
        <p:blipFill>
          <a:blip r:embed="rId3"/>
          <a:stretch>
            <a:fillRect/>
          </a:stretch>
        </p:blipFill>
        <p:spPr>
          <a:xfrm>
            <a:off x="6207760" y="1076099"/>
            <a:ext cx="5542055" cy="834841"/>
          </a:xfrm>
          <a:prstGeom prst="rect">
            <a:avLst/>
          </a:prstGeom>
          <a:solidFill>
            <a:schemeClr val="accent2"/>
          </a:solidFill>
          <a:ln w="38100">
            <a:solidFill>
              <a:schemeClr val="accent5">
                <a:lumMod val="75000"/>
              </a:schemeClr>
            </a:solidFill>
          </a:ln>
        </p:spPr>
      </p:pic>
      <p:sp>
        <p:nvSpPr>
          <p:cNvPr id="4" name="Title 1">
            <a:extLst>
              <a:ext uri="{FF2B5EF4-FFF2-40B4-BE49-F238E27FC236}">
                <a16:creationId xmlns:a16="http://schemas.microsoft.com/office/drawing/2014/main" id="{289705A0-D1C3-0B35-FECE-5358F4EDC2AA}"/>
              </a:ext>
            </a:extLst>
          </p:cNvPr>
          <p:cNvSpPr txBox="1">
            <a:spLocks/>
          </p:cNvSpPr>
          <p:nvPr/>
        </p:nvSpPr>
        <p:spPr>
          <a:xfrm>
            <a:off x="538479" y="-176192"/>
            <a:ext cx="11211336" cy="988561"/>
          </a:xfrm>
          <a:prstGeom prst="rect">
            <a:avLst/>
          </a:prstGeom>
          <a:noFill/>
          <a:ln>
            <a:noFill/>
          </a:ln>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DM Serif Text" pitchFamily="2" charset="0"/>
                <a:ea typeface="+mj-ea"/>
                <a:cs typeface="+mj-cs"/>
              </a:defRPr>
            </a:lvl1pPr>
          </a:lstStyle>
          <a:p>
            <a:r>
              <a:rPr lang="en-GB" sz="3600" dirty="0"/>
              <a:t>Conditional Marginal Effects Using Beta Regression</a:t>
            </a:r>
          </a:p>
        </p:txBody>
      </p:sp>
      <p:pic>
        <p:nvPicPr>
          <p:cNvPr id="9" name="Picture 8">
            <a:extLst>
              <a:ext uri="{FF2B5EF4-FFF2-40B4-BE49-F238E27FC236}">
                <a16:creationId xmlns:a16="http://schemas.microsoft.com/office/drawing/2014/main" id="{D6E268A7-403C-435C-1BF9-545F6017437D}"/>
              </a:ext>
            </a:extLst>
          </p:cNvPr>
          <p:cNvPicPr>
            <a:picLocks noChangeAspect="1"/>
          </p:cNvPicPr>
          <p:nvPr/>
        </p:nvPicPr>
        <p:blipFill>
          <a:blip r:embed="rId4"/>
          <a:stretch>
            <a:fillRect/>
          </a:stretch>
        </p:blipFill>
        <p:spPr>
          <a:xfrm>
            <a:off x="6268036" y="2174670"/>
            <a:ext cx="5923964" cy="4280744"/>
          </a:xfrm>
          <a:prstGeom prst="rect">
            <a:avLst/>
          </a:prstGeom>
        </p:spPr>
      </p:pic>
    </p:spTree>
    <p:extLst>
      <p:ext uri="{BB962C8B-B14F-4D97-AF65-F5344CB8AC3E}">
        <p14:creationId xmlns:p14="http://schemas.microsoft.com/office/powerpoint/2010/main" val="3608428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BD9BEC-4C3C-2AD3-EC2C-463CCFF42AB0}"/>
              </a:ext>
            </a:extLst>
          </p:cNvPr>
          <p:cNvSpPr>
            <a:spLocks noGrp="1"/>
          </p:cNvSpPr>
          <p:nvPr>
            <p:ph type="title"/>
          </p:nvPr>
        </p:nvSpPr>
        <p:spPr>
          <a:xfrm>
            <a:off x="838200" y="365125"/>
            <a:ext cx="10515600" cy="1325563"/>
          </a:xfrm>
        </p:spPr>
        <p:txBody>
          <a:bodyPr>
            <a:normAutofit/>
          </a:bodyPr>
          <a:lstStyle/>
          <a:p>
            <a:r>
              <a:rPr lang="en-GB" sz="3600" dirty="0"/>
              <a:t>Conclusion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D72C3E-FBFC-3524-32BA-E4ACA05AE1A9}"/>
              </a:ext>
            </a:extLst>
          </p:cNvPr>
          <p:cNvSpPr>
            <a:spLocks noGrp="1"/>
          </p:cNvSpPr>
          <p:nvPr>
            <p:ph idx="1"/>
          </p:nvPr>
        </p:nvSpPr>
        <p:spPr>
          <a:xfrm>
            <a:off x="1304693" y="1929383"/>
            <a:ext cx="9534292" cy="3973577"/>
          </a:xfrm>
        </p:spPr>
        <p:txBody>
          <a:bodyPr>
            <a:normAutofit/>
          </a:bodyPr>
          <a:lstStyle/>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original study was replicated successfully confirming the results that outcome favourability and warmth strongly influence citizens’ trust in government.</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Two alternative methods were applied: an ordered multinomial and an ordered beta regression</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ordered multinomial reflected the ordinal nature of the data and found similar treatment effects to the OLS model, made accurate predicted values and further supported the original findings that there is not a significant interaction effect </a:t>
            </a:r>
          </a:p>
          <a:p>
            <a:pPr>
              <a:lnSpc>
                <a:spcPct val="100000"/>
              </a:lnSpc>
            </a:pPr>
            <a:r>
              <a:rPr lang="en-GB" sz="1800" dirty="0">
                <a:latin typeface="CMU Sans Serif" panose="02000603000000000000" pitchFamily="2" charset="0"/>
                <a:ea typeface="CMU Sans Serif" panose="02000603000000000000" pitchFamily="2" charset="0"/>
                <a:cs typeface="CMU Sans Serif" panose="02000603000000000000" pitchFamily="2" charset="0"/>
              </a:rPr>
              <a:t>The ordered beta regression using Bayesian estimation reaffirmed the previous findings but with an approach that is specifically designed for bounded ordinal nature of the outcome variable</a:t>
            </a:r>
          </a:p>
        </p:txBody>
      </p:sp>
    </p:spTree>
    <p:extLst>
      <p:ext uri="{BB962C8B-B14F-4D97-AF65-F5344CB8AC3E}">
        <p14:creationId xmlns:p14="http://schemas.microsoft.com/office/powerpoint/2010/main" val="259120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1EFBA-CA74-1058-A4B5-A0F914A8C63F}"/>
              </a:ext>
            </a:extLst>
          </p:cNvPr>
          <p:cNvSpPr>
            <a:spLocks noGrp="1"/>
          </p:cNvSpPr>
          <p:nvPr>
            <p:ph type="title"/>
          </p:nvPr>
        </p:nvSpPr>
        <p:spPr>
          <a:xfrm>
            <a:off x="1420816" y="320041"/>
            <a:ext cx="9501160" cy="3892668"/>
          </a:xfrm>
        </p:spPr>
        <p:txBody>
          <a:bodyPr vert="horz" lIns="91440" tIns="45720" rIns="91440" bIns="45720" rtlCol="0" anchor="b">
            <a:normAutofit/>
          </a:bodyPr>
          <a:lstStyle/>
          <a:p>
            <a:r>
              <a:rPr lang="en-US" sz="6600" kern="1200" dirty="0">
                <a:solidFill>
                  <a:schemeClr val="tx1"/>
                </a:solidFill>
                <a:latin typeface="DM Serif Display" pitchFamily="2" charset="0"/>
              </a:rPr>
              <a:t>Thank you for listening!</a:t>
            </a:r>
          </a:p>
        </p:txBody>
      </p:sp>
      <p:sp>
        <p:nvSpPr>
          <p:cNvPr id="3" name="Content Placeholder 2">
            <a:extLst>
              <a:ext uri="{FF2B5EF4-FFF2-40B4-BE49-F238E27FC236}">
                <a16:creationId xmlns:a16="http://schemas.microsoft.com/office/drawing/2014/main" id="{074F0039-B818-811D-873A-1A10A012818E}"/>
              </a:ext>
            </a:extLst>
          </p:cNvPr>
          <p:cNvSpPr>
            <a:spLocks noGrp="1"/>
          </p:cNvSpPr>
          <p:nvPr>
            <p:ph idx="1"/>
          </p:nvPr>
        </p:nvSpPr>
        <p:spPr>
          <a:xfrm>
            <a:off x="4769616" y="4532750"/>
            <a:ext cx="6707366" cy="1569486"/>
          </a:xfrm>
        </p:spPr>
        <p:txBody>
          <a:bodyPr vert="horz" lIns="91440" tIns="45720" rIns="91440" bIns="45720" rtlCol="0">
            <a:normAutofit/>
          </a:bodyPr>
          <a:lstStyle/>
          <a:p>
            <a:pPr marL="0" indent="0">
              <a:buNone/>
            </a:pPr>
            <a:r>
              <a:rPr lang="en-US" sz="2400" kern="1200" dirty="0">
                <a:solidFill>
                  <a:schemeClr val="tx1"/>
                </a:solidFill>
                <a:latin typeface="DM Serif Display" pitchFamily="2" charset="0"/>
              </a:rPr>
              <a:t>Any Questions? </a:t>
            </a:r>
          </a:p>
        </p:txBody>
      </p:sp>
      <p:pic>
        <p:nvPicPr>
          <p:cNvPr id="5" name="Picture 4">
            <a:extLst>
              <a:ext uri="{FF2B5EF4-FFF2-40B4-BE49-F238E27FC236}">
                <a16:creationId xmlns:a16="http://schemas.microsoft.com/office/drawing/2014/main" id="{F8FB4958-4757-EFCC-0164-C82DE60ADA2E}"/>
              </a:ext>
            </a:extLst>
          </p:cNvPr>
          <p:cNvPicPr>
            <a:picLocks noChangeAspect="1"/>
          </p:cNvPicPr>
          <p:nvPr/>
        </p:nvPicPr>
        <p:blipFill>
          <a:blip r:embed="rId2"/>
          <a:stretch>
            <a:fillRect/>
          </a:stretch>
        </p:blipFill>
        <p:spPr>
          <a:xfrm>
            <a:off x="9824721" y="4618582"/>
            <a:ext cx="2051812" cy="2000517"/>
          </a:xfrm>
          <a:prstGeom prst="rect">
            <a:avLst/>
          </a:prstGeom>
        </p:spPr>
      </p:pic>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7450143"/>
      </p:ext>
    </p:extLst>
  </p:cSld>
  <p:clrMapOvr>
    <a:masterClrMapping/>
  </p:clrMapOvr>
</p:sld>
</file>

<file path=ppt/theme/theme1.xml><?xml version="1.0" encoding="utf-8"?>
<a:theme xmlns:a="http://schemas.openxmlformats.org/drawingml/2006/main" name="Office 2013 - 2022 Theme">
  <a:themeElements>
    <a:clrScheme name="Custom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3774</TotalTime>
  <Words>1280</Words>
  <Application>Microsoft Office PowerPoint</Application>
  <PresentationFormat>Widescreen</PresentationFormat>
  <Paragraphs>142</Paragraphs>
  <Slides>13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Cambria Math</vt:lpstr>
      <vt:lpstr>CMU Sans Serif</vt:lpstr>
      <vt:lpstr>Courier New</vt:lpstr>
      <vt:lpstr>DM Serif Display</vt:lpstr>
      <vt:lpstr>DM Serif Text</vt:lpstr>
      <vt:lpstr>Office 2013 - 2022 Theme</vt:lpstr>
      <vt:lpstr>PowerPoint Presentation</vt:lpstr>
      <vt:lpstr>Can Warm Behaviour Mitigate the Negative Effect of Unfavourable Governmental Decisions  on Citizens’ Trust?</vt:lpstr>
      <vt:lpstr> Theoretical Background</vt:lpstr>
      <vt:lpstr>Methodology</vt:lpstr>
      <vt:lpstr>Data</vt:lpstr>
      <vt:lpstr>Overall Findings</vt:lpstr>
      <vt:lpstr>OLS Results</vt:lpstr>
      <vt:lpstr>Extension - Ordered Multinomial Regression</vt:lpstr>
      <vt:lpstr>Extension - Ordered Multinomial Regression</vt:lpstr>
      <vt:lpstr>Extension - Ordered Beta Regression</vt:lpstr>
      <vt:lpstr>PowerPoint Presentation</vt:lpstr>
      <vt:lpstr>Conclusion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Ellen Beattie</dc:creator>
  <cp:lastModifiedBy>Ellen Beattie</cp:lastModifiedBy>
  <cp:revision>40</cp:revision>
  <dcterms:created xsi:type="dcterms:W3CDTF">2026-03-13T09:36:53Z</dcterms:created>
  <dcterms:modified xsi:type="dcterms:W3CDTF">2026-04-07T20:54:39Z</dcterms:modified>
</cp:coreProperties>
</file>